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open: leadership wants features faster, the business can't absorb the risk. Today's story: you no longer have to choose. Four acts — release &amp; remediate, target, experiment, and control AI — all in the running demo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whole deck. Speed vs safety is a false choice once you separate deploy from release. Land the credibility anchor: 2 trillion evaluations a day, names they'll recognize. Then walk into Part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live if possible: toggle the flag, show the toast with no reload, then curl the trigger to kill it. Tie the stats to the exec pain — fewer weekend fire drills (Ally), fewer incidents (Jackpocket). Pre-empt the SPOF objection early; it's the #1 platform-team pushback. EXPECT THIS QUESTION: 'How does the trigger work?' A trigger is a unique, secret webhook URL bound to ONE flag in ONE environment, with a preset action. This demo creates it via the API with integrationKey 'generic-trigger' and instruction 'turnFlagOff'. Firing = an HTTP POST to the URL — no auth header, no body; the long random token in the URL path IS the credential. LaunchDarkly executes the action (flips targeting off), logs it in the audit trail, and streams the new state to every connected SDK, so the browser updates with no reload — the same streaming path as a manual toggle. Because it's just a POST, any system that can make a web request (Datadog, PagerDuty, a health-check script, CI, or curl) can pull the kill switch automatically. Note: LD returns the working URL only once at creation (GET is masked), so the bootstrap saves it to the git-ignored trigger-url.local.txt and deletes/recreates to rotate. Treat the URL like a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to the exercise scenario: 40k visitors/day, lots of eyes. Individual (Riya) vs rule-based (Yuki) is the required beat — show both in the persona dropdown. Latency and PII are the two technical objections a platform/security reviewer will raise; answer with local evaluation and private attributes. EXPECT THIS QUESTION: 'How do real users get these attributes?' Answer: the app builds the context and hands it to the SDK — LaunchDarkly does not detect anything. On login you read the user from your auth/session/JWT and profile/billing systems and pass key=user ID plus attributes (plan, country, role, beta) into initialize()/identify(). Anonymous visitors get a random cookie key with anonymous:true, then get identify()'d into their real context on login. LD only ever targets on attributes you send (private attributes can be sent for evaluation but never stored). The persona dropdown here is purely a demo stand-in so you can flip between made-up users without logging in and out — a real product has no persona switcher.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is illustrative — say so. The real point: experimentation is not a separate system bolted onto releases; it's the same flag. SmugMug is the killer proof for the PM persona: product runs tests without engineering. Gamma quantifies the upside.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chatbot reading the AI Config live; change the model in LD and send another message. The comparison card frames the whole value: code-and-deploy vs. runtime config. For the LLM-tooling objection, the differentiator is 'same platform as everything else' — targeting, experiments, governance you already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pillars as one story. Close on the reframed promise: speed and safety together. Offer to drive the live app for any part they want to see again, and hand over the one-pager.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030"/>
        </a:solidFill>
      </p:bgPr>
    </p:bg>
    <p:spTree>
      <p:nvGrpSpPr>
        <p:cNvPr id="1" name=""/>
        <p:cNvGrpSpPr/>
        <p:nvPr/>
      </p:nvGrpSpPr>
      <p:grpSpPr>
        <a:xfrm>
          <a:off x="0" y="0"/>
          <a:ext cx="0" cy="0"/>
          <a:chOff x="0" y="0"/>
          <a:chExt cx="0" cy="0"/>
        </a:xfrm>
      </p:grpSpPr>
      <p:sp>
        <p:nvSpPr>
          <p:cNvPr id="2" name="Shape 0"/>
          <p:cNvSpPr/>
          <p:nvPr/>
        </p:nvSpPr>
        <p:spPr>
          <a:xfrm>
            <a:off x="9509760" y="-1554480"/>
            <a:ext cx="4206240" cy="4206240"/>
          </a:xfrm>
          <a:prstGeom prst="ellipse">
            <a:avLst/>
          </a:prstGeom>
          <a:solidFill>
            <a:srgbClr val="6366F1">
              <a:alpha val="18000"/>
            </a:srgbClr>
          </a:solidFill>
          <a:ln/>
        </p:spPr>
      </p:sp>
      <p:sp>
        <p:nvSpPr>
          <p:cNvPr id="3" name="Shape 1"/>
          <p:cNvSpPr/>
          <p:nvPr/>
        </p:nvSpPr>
        <p:spPr>
          <a:xfrm>
            <a:off x="10332720" y="-822960"/>
            <a:ext cx="2743200" cy="2743200"/>
          </a:xfrm>
          <a:prstGeom prst="ellipse">
            <a:avLst/>
          </a:prstGeom>
          <a:solidFill>
            <a:srgbClr val="3DD6F5">
              <a:alpha val="20000"/>
            </a:srgbClr>
          </a:solidFill>
          <a:ln/>
        </p:spPr>
      </p:sp>
      <p:sp>
        <p:nvSpPr>
          <p:cNvPr id="4" name="Shape 2"/>
          <p:cNvSpPr/>
          <p:nvPr/>
        </p:nvSpPr>
        <p:spPr>
          <a:xfrm>
            <a:off x="-1188720" y="4937760"/>
            <a:ext cx="3291840" cy="3291840"/>
          </a:xfrm>
          <a:prstGeom prst="ellipse">
            <a:avLst/>
          </a:prstGeom>
          <a:solidFill>
            <a:srgbClr val="6366F1">
              <a:alpha val="14000"/>
            </a:srgbClr>
          </a:solidFill>
          <a:ln/>
        </p:spPr>
      </p:sp>
      <p:sp>
        <p:nvSpPr>
          <p:cNvPr id="5" name="Text 3"/>
          <p:cNvSpPr/>
          <p:nvPr/>
        </p:nvSpPr>
        <p:spPr>
          <a:xfrm>
            <a:off x="685800" y="1371600"/>
            <a:ext cx="8229600" cy="365760"/>
          </a:xfrm>
          <a:prstGeom prst="rect">
            <a:avLst/>
          </a:prstGeom>
          <a:noFill/>
          <a:ln/>
        </p:spPr>
        <p:txBody>
          <a:bodyPr wrap="square" lIns="0" tIns="0" rIns="0" bIns="0" rtlCol="0" anchor="ctr"/>
          <a:lstStyle/>
          <a:p>
            <a:pPr indent="0" marL="0">
              <a:buNone/>
            </a:pPr>
            <a:r>
              <a:rPr lang="en-US" sz="1300" b="1" spc="300" kern="0" dirty="0">
                <a:solidFill>
                  <a:srgbClr val="3DD6F5"/>
                </a:solidFill>
                <a:latin typeface="Calibri" pitchFamily="34" charset="0"/>
                <a:ea typeface="Calibri" pitchFamily="34" charset="-122"/>
                <a:cs typeface="Calibri" pitchFamily="34" charset="-120"/>
              </a:rPr>
              <a:t>LAUNCHDARKLY  ·  SOLUTION OVERVIEW</a:t>
            </a:r>
            <a:endParaRPr lang="en-US" sz="1300" dirty="0"/>
          </a:p>
        </p:txBody>
      </p:sp>
      <p:sp>
        <p:nvSpPr>
          <p:cNvPr id="6" name="Text 4"/>
          <p:cNvSpPr/>
          <p:nvPr/>
        </p:nvSpPr>
        <p:spPr>
          <a:xfrm>
            <a:off x="640080" y="1828800"/>
            <a:ext cx="10424160" cy="2103120"/>
          </a:xfrm>
          <a:prstGeom prst="rect">
            <a:avLst/>
          </a:prstGeom>
          <a:noFill/>
          <a:ln/>
        </p:spPr>
        <p:txBody>
          <a:bodyPr wrap="square" lIns="0" tIns="0" rIns="0" bIns="0" rtlCol="0" anchor="ctr"/>
          <a:lstStyle/>
          <a:p>
            <a:pPr indent="0" marL="0">
              <a:lnSpc>
                <a:spcPct val="100000"/>
              </a:lnSpc>
              <a:buNone/>
            </a:pPr>
            <a:r>
              <a:rPr lang="en-US" sz="5200" b="1" dirty="0">
                <a:solidFill>
                  <a:srgbClr val="FFFFFF"/>
                </a:solidFill>
                <a:latin typeface="Bookman Old Style" pitchFamily="34" charset="0"/>
                <a:ea typeface="Bookman Old Style" pitchFamily="34" charset="-122"/>
                <a:cs typeface="Bookman Old Style" pitchFamily="34" charset="-120"/>
              </a:rPr>
              <a:t>Ship faster.</a:t>
            </a:r>
            <a:endParaRPr lang="en-US" sz="5200" dirty="0"/>
          </a:p>
          <a:p>
            <a:pPr indent="0" marL="0">
              <a:lnSpc>
                <a:spcPct val="100000"/>
              </a:lnSpc>
              <a:buNone/>
            </a:pPr>
            <a:r>
              <a:rPr lang="en-US" sz="5200" b="1" dirty="0">
                <a:solidFill>
                  <a:srgbClr val="FFFFFF"/>
                </a:solidFill>
                <a:latin typeface="Bookman Old Style" pitchFamily="34" charset="0"/>
                <a:ea typeface="Bookman Old Style" pitchFamily="34" charset="-122"/>
                <a:cs typeface="Bookman Old Style" pitchFamily="34" charset="-120"/>
              </a:rPr>
              <a:t>Without breaking production.</a:t>
            </a:r>
            <a:endParaRPr lang="en-US" sz="5200" dirty="0"/>
          </a:p>
        </p:txBody>
      </p:sp>
      <p:sp>
        <p:nvSpPr>
          <p:cNvPr id="7" name="Text 5"/>
          <p:cNvSpPr/>
          <p:nvPr/>
        </p:nvSpPr>
        <p:spPr>
          <a:xfrm>
            <a:off x="685800" y="4114800"/>
            <a:ext cx="9692640" cy="822960"/>
          </a:xfrm>
          <a:prstGeom prst="rect">
            <a:avLst/>
          </a:prstGeom>
          <a:noFill/>
          <a:ln/>
        </p:spPr>
        <p:txBody>
          <a:bodyPr wrap="square" lIns="0" tIns="0" rIns="0" bIns="0" rtlCol="0" anchor="ctr"/>
          <a:lstStyle/>
          <a:p>
            <a:pPr indent="0" marL="0">
              <a:buNone/>
            </a:pPr>
            <a:r>
              <a:rPr lang="en-US" sz="1700" dirty="0">
                <a:solidFill>
                  <a:srgbClr val="C9CCE6"/>
                </a:solidFill>
                <a:latin typeface="Calibri" pitchFamily="34" charset="0"/>
                <a:ea typeface="Calibri" pitchFamily="34" charset="-122"/>
                <a:cs typeface="Calibri" pitchFamily="34" charset="-120"/>
              </a:rPr>
              <a:t>Progressive delivery, targeting, experimentation, and AI control — on one platform, with an instant undo at every step.</a:t>
            </a:r>
            <a:endParaRPr lang="en-US" sz="1700" dirty="0"/>
          </a:p>
        </p:txBody>
      </p:sp>
      <p:sp>
        <p:nvSpPr>
          <p:cNvPr id="8" name="Text 6"/>
          <p:cNvSpPr/>
          <p:nvPr/>
        </p:nvSpPr>
        <p:spPr>
          <a:xfrm>
            <a:off x="685800" y="5943600"/>
            <a:ext cx="7315200" cy="365760"/>
          </a:xfrm>
          <a:prstGeom prst="rect">
            <a:avLst/>
          </a:prstGeom>
          <a:noFill/>
          <a:ln/>
        </p:spPr>
        <p:txBody>
          <a:bodyPr wrap="square" lIns="0" tIns="0" rIns="0" bIns="0" rtlCol="0" anchor="ctr"/>
          <a:lstStyle/>
          <a:p>
            <a:pPr indent="0" marL="0">
              <a:buNone/>
            </a:pPr>
            <a:r>
              <a:rPr lang="en-US" sz="1200" dirty="0">
                <a:solidFill>
                  <a:srgbClr val="8C90B4"/>
                </a:solidFill>
                <a:latin typeface="Calibri" pitchFamily="34" charset="0"/>
                <a:ea typeface="Calibri" pitchFamily="34" charset="-122"/>
                <a:cs typeface="Calibri" pitchFamily="34" charset="-120"/>
              </a:rPr>
              <a:t>Prepared for ABC Company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030"/>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00" b="1" spc="300" kern="0" dirty="0">
                <a:solidFill>
                  <a:srgbClr val="3DD6F5"/>
                </a:solidFill>
                <a:latin typeface="Calibri" pitchFamily="34" charset="0"/>
                <a:ea typeface="Calibri" pitchFamily="34" charset="-122"/>
                <a:cs typeface="Calibri" pitchFamily="34" charset="-120"/>
              </a:rPr>
              <a:t>THE TENSION</a:t>
            </a:r>
            <a:endParaRPr lang="en-US" sz="1200" dirty="0"/>
          </a:p>
        </p:txBody>
      </p:sp>
      <p:sp>
        <p:nvSpPr>
          <p:cNvPr id="3" name="Text 1"/>
          <p:cNvSpPr/>
          <p:nvPr/>
        </p:nvSpPr>
        <p:spPr>
          <a:xfrm>
            <a:off x="640080" y="822960"/>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Every team is told to accept a trade-off</a:t>
            </a:r>
            <a:endParaRPr lang="en-US" sz="3000" dirty="0"/>
          </a:p>
        </p:txBody>
      </p:sp>
      <p:sp>
        <p:nvSpPr>
          <p:cNvPr id="4" name="Shape 2"/>
          <p:cNvSpPr/>
          <p:nvPr/>
        </p:nvSpPr>
        <p:spPr>
          <a:xfrm>
            <a:off x="822960" y="1828800"/>
            <a:ext cx="4480560" cy="1554480"/>
          </a:xfrm>
          <a:prstGeom prst="roundRect">
            <a:avLst>
              <a:gd name="adj" fmla="val 7059"/>
            </a:avLst>
          </a:prstGeom>
          <a:solidFill>
            <a:srgbClr val="1B1E4B"/>
          </a:solidFill>
          <a:ln w="12700">
            <a:solidFill>
              <a:srgbClr val="6366F1"/>
            </a:solidFill>
            <a:prstDash val="solid"/>
          </a:ln>
        </p:spPr>
      </p:sp>
      <p:sp>
        <p:nvSpPr>
          <p:cNvPr id="5" name="Text 3"/>
          <p:cNvSpPr/>
          <p:nvPr/>
        </p:nvSpPr>
        <p:spPr>
          <a:xfrm>
            <a:off x="822960" y="2011680"/>
            <a:ext cx="4480560" cy="640080"/>
          </a:xfrm>
          <a:prstGeom prst="rect">
            <a:avLst/>
          </a:prstGeom>
          <a:noFill/>
          <a:ln/>
        </p:spPr>
        <p:txBody>
          <a:bodyPr wrap="square" lIns="0" tIns="0" rIns="0" bIns="0" rtlCol="0" anchor="ctr"/>
          <a:lstStyle/>
          <a:p>
            <a:pPr algn="ctr" indent="0" marL="0">
              <a:buNone/>
            </a:pPr>
            <a:r>
              <a:rPr lang="en-US" sz="3400" b="1" dirty="0">
                <a:solidFill>
                  <a:srgbClr val="3DD6F5"/>
                </a:solidFill>
                <a:latin typeface="Bookman Old Style" pitchFamily="34" charset="0"/>
                <a:ea typeface="Bookman Old Style" pitchFamily="34" charset="-122"/>
                <a:cs typeface="Bookman Old Style" pitchFamily="34" charset="-120"/>
              </a:rPr>
              <a:t>SPEED</a:t>
            </a:r>
            <a:endParaRPr lang="en-US" sz="3400" dirty="0"/>
          </a:p>
        </p:txBody>
      </p:sp>
      <p:sp>
        <p:nvSpPr>
          <p:cNvPr id="6" name="Text 4"/>
          <p:cNvSpPr/>
          <p:nvPr/>
        </p:nvSpPr>
        <p:spPr>
          <a:xfrm>
            <a:off x="1005840" y="2697480"/>
            <a:ext cx="4114800" cy="548640"/>
          </a:xfrm>
          <a:prstGeom prst="rect">
            <a:avLst/>
          </a:prstGeom>
          <a:noFill/>
          <a:ln/>
        </p:spPr>
        <p:txBody>
          <a:bodyPr wrap="square" lIns="0" tIns="0" rIns="0" bIns="0" rtlCol="0" anchor="ctr"/>
          <a:lstStyle/>
          <a:p>
            <a:pPr algn="ctr" indent="0" marL="0">
              <a:buNone/>
            </a:pPr>
            <a:r>
              <a:rPr lang="en-US" sz="1250" dirty="0">
                <a:solidFill>
                  <a:srgbClr val="C9CCE6"/>
                </a:solidFill>
                <a:latin typeface="Calibri" pitchFamily="34" charset="0"/>
                <a:ea typeface="Calibri" pitchFamily="34" charset="-122"/>
                <a:cs typeface="Calibri" pitchFamily="34" charset="-120"/>
              </a:rPr>
              <a:t>“Ship features faster — competitors are catching up.”</a:t>
            </a:r>
            <a:endParaRPr lang="en-US" sz="1250" dirty="0"/>
          </a:p>
        </p:txBody>
      </p:sp>
      <p:sp>
        <p:nvSpPr>
          <p:cNvPr id="7" name="Text 5"/>
          <p:cNvSpPr/>
          <p:nvPr/>
        </p:nvSpPr>
        <p:spPr>
          <a:xfrm>
            <a:off x="5394960" y="2286000"/>
            <a:ext cx="1371600" cy="640080"/>
          </a:xfrm>
          <a:prstGeom prst="rect">
            <a:avLst/>
          </a:prstGeom>
          <a:noFill/>
          <a:ln/>
        </p:spPr>
        <p:txBody>
          <a:bodyPr wrap="square" lIns="0" tIns="0" rIns="0" bIns="0" rtlCol="0" anchor="ctr"/>
          <a:lstStyle/>
          <a:p>
            <a:pPr algn="ctr" indent="0" marL="0">
              <a:buNone/>
            </a:pPr>
            <a:r>
              <a:rPr lang="en-US" sz="2600" i="1" dirty="0">
                <a:solidFill>
                  <a:srgbClr val="8C90B4"/>
                </a:solidFill>
                <a:latin typeface="Bookman Old Style" pitchFamily="34" charset="0"/>
                <a:ea typeface="Bookman Old Style" pitchFamily="34" charset="-122"/>
                <a:cs typeface="Bookman Old Style" pitchFamily="34" charset="-120"/>
              </a:rPr>
              <a:t>vs</a:t>
            </a:r>
            <a:endParaRPr lang="en-US" sz="2600" dirty="0"/>
          </a:p>
        </p:txBody>
      </p:sp>
      <p:sp>
        <p:nvSpPr>
          <p:cNvPr id="8" name="Shape 6"/>
          <p:cNvSpPr/>
          <p:nvPr/>
        </p:nvSpPr>
        <p:spPr>
          <a:xfrm>
            <a:off x="6858000" y="1828800"/>
            <a:ext cx="4480560" cy="1554480"/>
          </a:xfrm>
          <a:prstGeom prst="roundRect">
            <a:avLst>
              <a:gd name="adj" fmla="val 7059"/>
            </a:avLst>
          </a:prstGeom>
          <a:solidFill>
            <a:srgbClr val="1B1E4B"/>
          </a:solidFill>
          <a:ln w="12700">
            <a:solidFill>
              <a:srgbClr val="FF6B6B"/>
            </a:solidFill>
            <a:prstDash val="solid"/>
          </a:ln>
        </p:spPr>
      </p:sp>
      <p:sp>
        <p:nvSpPr>
          <p:cNvPr id="9" name="Text 7"/>
          <p:cNvSpPr/>
          <p:nvPr/>
        </p:nvSpPr>
        <p:spPr>
          <a:xfrm>
            <a:off x="6858000" y="2011680"/>
            <a:ext cx="4480560" cy="640080"/>
          </a:xfrm>
          <a:prstGeom prst="rect">
            <a:avLst/>
          </a:prstGeom>
          <a:noFill/>
          <a:ln/>
        </p:spPr>
        <p:txBody>
          <a:bodyPr wrap="square" lIns="0" tIns="0" rIns="0" bIns="0" rtlCol="0" anchor="ctr"/>
          <a:lstStyle/>
          <a:p>
            <a:pPr algn="ctr" indent="0" marL="0">
              <a:buNone/>
            </a:pPr>
            <a:r>
              <a:rPr lang="en-US" sz="3400" b="1" dirty="0">
                <a:solidFill>
                  <a:srgbClr val="FF6B6B"/>
                </a:solidFill>
                <a:latin typeface="Bookman Old Style" pitchFamily="34" charset="0"/>
                <a:ea typeface="Bookman Old Style" pitchFamily="34" charset="-122"/>
                <a:cs typeface="Bookman Old Style" pitchFamily="34" charset="-120"/>
              </a:rPr>
              <a:t>SAFETY</a:t>
            </a:r>
            <a:endParaRPr lang="en-US" sz="3400" dirty="0"/>
          </a:p>
        </p:txBody>
      </p:sp>
      <p:sp>
        <p:nvSpPr>
          <p:cNvPr id="10" name="Text 8"/>
          <p:cNvSpPr/>
          <p:nvPr/>
        </p:nvSpPr>
        <p:spPr>
          <a:xfrm>
            <a:off x="7040880" y="2697480"/>
            <a:ext cx="4114800" cy="548640"/>
          </a:xfrm>
          <a:prstGeom prst="rect">
            <a:avLst/>
          </a:prstGeom>
          <a:noFill/>
          <a:ln/>
        </p:spPr>
        <p:txBody>
          <a:bodyPr wrap="square" lIns="0" tIns="0" rIns="0" bIns="0" rtlCol="0" anchor="ctr"/>
          <a:lstStyle/>
          <a:p>
            <a:pPr algn="ctr" indent="0" marL="0">
              <a:buNone/>
            </a:pPr>
            <a:r>
              <a:rPr lang="en-US" sz="1250" dirty="0">
                <a:solidFill>
                  <a:srgbClr val="C9CCE6"/>
                </a:solidFill>
                <a:latin typeface="Calibri" pitchFamily="34" charset="0"/>
                <a:ea typeface="Calibri" pitchFamily="34" charset="-122"/>
                <a:cs typeface="Calibri" pitchFamily="34" charset="-120"/>
              </a:rPr>
              <a:t>“Quality is our brand — a bad release can't reach customers.”</a:t>
            </a:r>
            <a:endParaRPr lang="en-US" sz="1250" dirty="0"/>
          </a:p>
        </p:txBody>
      </p:sp>
      <p:sp>
        <p:nvSpPr>
          <p:cNvPr id="11" name="Shape 9"/>
          <p:cNvSpPr/>
          <p:nvPr/>
        </p:nvSpPr>
        <p:spPr>
          <a:xfrm>
            <a:off x="822960" y="3703320"/>
            <a:ext cx="10515600" cy="1051560"/>
          </a:xfrm>
          <a:prstGeom prst="roundRect">
            <a:avLst>
              <a:gd name="adj" fmla="val 8696"/>
            </a:avLst>
          </a:prstGeom>
          <a:solidFill>
            <a:srgbClr val="17193F"/>
          </a:solidFill>
          <a:ln w="15875">
            <a:solidFill>
              <a:srgbClr val="3DD6F5"/>
            </a:solidFill>
            <a:prstDash val="solid"/>
          </a:ln>
        </p:spPr>
      </p:sp>
      <p:sp>
        <p:nvSpPr>
          <p:cNvPr id="12" name="Shape 10"/>
          <p:cNvSpPr/>
          <p:nvPr/>
        </p:nvSpPr>
        <p:spPr>
          <a:xfrm>
            <a:off x="1097280" y="3913632"/>
            <a:ext cx="621792" cy="621792"/>
          </a:xfrm>
          <a:prstGeom prst="ellipse">
            <a:avLst/>
          </a:prstGeom>
          <a:solidFill>
            <a:srgbClr val="23264F"/>
          </a:solidFill>
          <a:ln/>
          <a:effectLst>
            <a:outerShdw sx="100000" sy="100000" kx="0" ky="0" algn="bl" rotWithShape="0" blurRad="114300" dist="38100" dir="5400000">
              <a:srgbClr val="1A1B34">
                <a:alpha val="12000"/>
              </a:srgbClr>
            </a:outerShdw>
          </a:effectLst>
        </p:spPr>
      </p:sp>
      <p:pic>
        <p:nvPicPr>
          <p:cNvPr id="13" name="Image 0" descr="preencoded.png">    </p:cNvPr>
          <p:cNvPicPr>
            <a:picLocks noChangeAspect="1"/>
          </p:cNvPicPr>
          <p:nvPr/>
        </p:nvPicPr>
        <p:blipFill>
          <a:blip r:embed="rId1"/>
          <a:stretch>
            <a:fillRect/>
          </a:stretch>
        </p:blipFill>
        <p:spPr>
          <a:xfrm>
            <a:off x="1258946" y="4075298"/>
            <a:ext cx="298460" cy="298460"/>
          </a:xfrm>
          <a:prstGeom prst="rect">
            <a:avLst/>
          </a:prstGeom>
        </p:spPr>
      </p:pic>
      <p:sp>
        <p:nvSpPr>
          <p:cNvPr id="14" name="Text 11"/>
          <p:cNvSpPr/>
          <p:nvPr/>
        </p:nvSpPr>
        <p:spPr>
          <a:xfrm>
            <a:off x="1920240" y="3840480"/>
            <a:ext cx="9144000" cy="7772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Separate deploy from release  </a:t>
            </a:r>
            <a:pPr indent="0" marL="0">
              <a:buNone/>
            </a:pPr>
            <a:r>
              <a:rPr lang="en-US" sz="1350" dirty="0">
                <a:solidFill>
                  <a:srgbClr val="C9CCE6"/>
                </a:solidFill>
                <a:latin typeface="Calibri" pitchFamily="34" charset="0"/>
                <a:ea typeface="Calibri" pitchFamily="34" charset="-122"/>
                <a:cs typeface="Calibri" pitchFamily="34" charset="-120"/>
              </a:rPr>
              <a:t>— and you stop choosing. Code ships dark; a business decision turns it on, for the right people, with an instant undo.</a:t>
            </a:r>
            <a:endParaRPr lang="en-US" sz="1700" dirty="0"/>
          </a:p>
        </p:txBody>
      </p:sp>
      <p:sp>
        <p:nvSpPr>
          <p:cNvPr id="15" name="Text 12"/>
          <p:cNvSpPr/>
          <p:nvPr/>
        </p:nvSpPr>
        <p:spPr>
          <a:xfrm>
            <a:off x="822960" y="5074920"/>
            <a:ext cx="7315200" cy="274320"/>
          </a:xfrm>
          <a:prstGeom prst="rect">
            <a:avLst/>
          </a:prstGeom>
          <a:noFill/>
          <a:ln/>
        </p:spPr>
        <p:txBody>
          <a:bodyPr wrap="square" lIns="0" tIns="0" rIns="0" bIns="0" rtlCol="0" anchor="ctr"/>
          <a:lstStyle/>
          <a:p>
            <a:pPr indent="0" marL="0">
              <a:buNone/>
            </a:pPr>
            <a:r>
              <a:rPr lang="en-US" sz="1050" b="1" spc="200" kern="0" dirty="0">
                <a:solidFill>
                  <a:srgbClr val="8C90B4"/>
                </a:solidFill>
                <a:latin typeface="Calibri" pitchFamily="34" charset="0"/>
                <a:ea typeface="Calibri" pitchFamily="34" charset="-122"/>
                <a:cs typeface="Calibri" pitchFamily="34" charset="-120"/>
              </a:rPr>
              <a:t>PROVEN AT SCALE</a:t>
            </a:r>
            <a:endParaRPr lang="en-US" sz="1050" dirty="0"/>
          </a:p>
        </p:txBody>
      </p:sp>
      <p:sp>
        <p:nvSpPr>
          <p:cNvPr id="16" name="Text 13"/>
          <p:cNvSpPr/>
          <p:nvPr/>
        </p:nvSpPr>
        <p:spPr>
          <a:xfrm>
            <a:off x="822960" y="5394960"/>
            <a:ext cx="3291840" cy="548640"/>
          </a:xfrm>
          <a:prstGeom prst="rect">
            <a:avLst/>
          </a:prstGeom>
          <a:noFill/>
          <a:ln/>
        </p:spPr>
        <p:txBody>
          <a:bodyPr wrap="square" lIns="0" tIns="0" rIns="0" bIns="0" rtlCol="0" anchor="ctr"/>
          <a:lstStyle/>
          <a:p>
            <a:pPr indent="0" marL="0">
              <a:buNone/>
            </a:pPr>
            <a:r>
              <a:rPr lang="en-US" sz="3000" b="1" dirty="0">
                <a:solidFill>
                  <a:srgbClr val="3DD6F5"/>
                </a:solidFill>
                <a:latin typeface="Bookman Old Style" pitchFamily="34" charset="0"/>
                <a:ea typeface="Bookman Old Style" pitchFamily="34" charset="-122"/>
                <a:cs typeface="Bookman Old Style" pitchFamily="34" charset="-120"/>
              </a:rPr>
              <a:t>2T+</a:t>
            </a:r>
            <a:endParaRPr lang="en-US" sz="3000" dirty="0"/>
          </a:p>
        </p:txBody>
      </p:sp>
      <p:sp>
        <p:nvSpPr>
          <p:cNvPr id="17" name="Text 14"/>
          <p:cNvSpPr/>
          <p:nvPr/>
        </p:nvSpPr>
        <p:spPr>
          <a:xfrm>
            <a:off x="822960" y="5943600"/>
            <a:ext cx="3291840" cy="365760"/>
          </a:xfrm>
          <a:prstGeom prst="rect">
            <a:avLst/>
          </a:prstGeom>
          <a:noFill/>
          <a:ln/>
        </p:spPr>
        <p:txBody>
          <a:bodyPr wrap="square" lIns="0" tIns="0" rIns="0" bIns="0" rtlCol="0" anchor="ctr"/>
          <a:lstStyle/>
          <a:p>
            <a:pPr indent="0" marL="0">
              <a:buNone/>
            </a:pPr>
            <a:r>
              <a:rPr lang="en-US" sz="1200" dirty="0">
                <a:solidFill>
                  <a:srgbClr val="C9CCE6"/>
                </a:solidFill>
                <a:latin typeface="Calibri" pitchFamily="34" charset="0"/>
                <a:ea typeface="Calibri" pitchFamily="34" charset="-122"/>
                <a:cs typeface="Calibri" pitchFamily="34" charset="-120"/>
              </a:rPr>
              <a:t>flag evaluations / day</a:t>
            </a:r>
            <a:endParaRPr lang="en-US" sz="1200" dirty="0"/>
          </a:p>
        </p:txBody>
      </p:sp>
      <p:sp>
        <p:nvSpPr>
          <p:cNvPr id="18" name="Text 15"/>
          <p:cNvSpPr/>
          <p:nvPr/>
        </p:nvSpPr>
        <p:spPr>
          <a:xfrm>
            <a:off x="4389120" y="5394960"/>
            <a:ext cx="3291840" cy="548640"/>
          </a:xfrm>
          <a:prstGeom prst="rect">
            <a:avLst/>
          </a:prstGeom>
          <a:noFill/>
          <a:ln/>
        </p:spPr>
        <p:txBody>
          <a:bodyPr wrap="square" lIns="0" tIns="0" rIns="0" bIns="0" rtlCol="0" anchor="ctr"/>
          <a:lstStyle/>
          <a:p>
            <a:pPr indent="0" marL="0">
              <a:buNone/>
            </a:pPr>
            <a:r>
              <a:rPr lang="en-US" sz="3000" b="1" dirty="0">
                <a:solidFill>
                  <a:srgbClr val="3DD6F5"/>
                </a:solidFill>
                <a:latin typeface="Bookman Old Style" pitchFamily="34" charset="0"/>
                <a:ea typeface="Bookman Old Style" pitchFamily="34" charset="-122"/>
                <a:cs typeface="Bookman Old Style" pitchFamily="34" charset="-120"/>
              </a:rPr>
              <a:t>IBM</a:t>
            </a:r>
            <a:endParaRPr lang="en-US" sz="3000" dirty="0"/>
          </a:p>
        </p:txBody>
      </p:sp>
      <p:sp>
        <p:nvSpPr>
          <p:cNvPr id="19" name="Text 16"/>
          <p:cNvSpPr/>
          <p:nvPr/>
        </p:nvSpPr>
        <p:spPr>
          <a:xfrm>
            <a:off x="4389120" y="5943600"/>
            <a:ext cx="3291840" cy="365760"/>
          </a:xfrm>
          <a:prstGeom prst="rect">
            <a:avLst/>
          </a:prstGeom>
          <a:noFill/>
          <a:ln/>
        </p:spPr>
        <p:txBody>
          <a:bodyPr wrap="square" lIns="0" tIns="0" rIns="0" bIns="0" rtlCol="0" anchor="ctr"/>
          <a:lstStyle/>
          <a:p>
            <a:pPr indent="0" marL="0">
              <a:buNone/>
            </a:pPr>
            <a:r>
              <a:rPr lang="en-US" sz="1200" dirty="0">
                <a:solidFill>
                  <a:srgbClr val="C9CCE6"/>
                </a:solidFill>
                <a:latin typeface="Calibri" pitchFamily="34" charset="0"/>
                <a:ea typeface="Calibri" pitchFamily="34" charset="-122"/>
                <a:cs typeface="Calibri" pitchFamily="34" charset="-120"/>
              </a:rPr>
              <a:t>Atlassian · Microsoft</a:t>
            </a:r>
            <a:endParaRPr lang="en-US" sz="1200" dirty="0"/>
          </a:p>
        </p:txBody>
      </p:sp>
      <p:sp>
        <p:nvSpPr>
          <p:cNvPr id="20" name="Text 17"/>
          <p:cNvSpPr/>
          <p:nvPr/>
        </p:nvSpPr>
        <p:spPr>
          <a:xfrm>
            <a:off x="7955280" y="5394960"/>
            <a:ext cx="3291840" cy="548640"/>
          </a:xfrm>
          <a:prstGeom prst="rect">
            <a:avLst/>
          </a:prstGeom>
          <a:noFill/>
          <a:ln/>
        </p:spPr>
        <p:txBody>
          <a:bodyPr wrap="square" lIns="0" tIns="0" rIns="0" bIns="0" rtlCol="0" anchor="ctr"/>
          <a:lstStyle/>
          <a:p>
            <a:pPr indent="0" marL="0">
              <a:buNone/>
            </a:pPr>
            <a:r>
              <a:rPr lang="en-US" sz="3000" b="1" dirty="0">
                <a:solidFill>
                  <a:srgbClr val="3DD6F5"/>
                </a:solidFill>
                <a:latin typeface="Bookman Old Style" pitchFamily="34" charset="0"/>
                <a:ea typeface="Bookman Old Style" pitchFamily="34" charset="-122"/>
                <a:cs typeface="Bookman Old Style" pitchFamily="34" charset="-120"/>
              </a:rPr>
              <a:t>CircleCI</a:t>
            </a:r>
            <a:endParaRPr lang="en-US" sz="3000" dirty="0"/>
          </a:p>
        </p:txBody>
      </p:sp>
      <p:sp>
        <p:nvSpPr>
          <p:cNvPr id="21" name="Text 18"/>
          <p:cNvSpPr/>
          <p:nvPr/>
        </p:nvSpPr>
        <p:spPr>
          <a:xfrm>
            <a:off x="7955280" y="5943600"/>
            <a:ext cx="3291840" cy="365760"/>
          </a:xfrm>
          <a:prstGeom prst="rect">
            <a:avLst/>
          </a:prstGeom>
          <a:noFill/>
          <a:ln/>
        </p:spPr>
        <p:txBody>
          <a:bodyPr wrap="square" lIns="0" tIns="0" rIns="0" bIns="0" rtlCol="0" anchor="ctr"/>
          <a:lstStyle/>
          <a:p>
            <a:pPr indent="0" marL="0">
              <a:buNone/>
            </a:pPr>
            <a:r>
              <a:rPr lang="en-US" sz="1200" dirty="0">
                <a:solidFill>
                  <a:srgbClr val="C9CCE6"/>
                </a:solidFill>
                <a:latin typeface="Calibri" pitchFamily="34" charset="0"/>
                <a:ea typeface="Calibri" pitchFamily="34" charset="-122"/>
                <a:cs typeface="Calibri" pitchFamily="34" charset="-120"/>
              </a:rPr>
              <a:t>TrueCar · and more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C"/>
        </a:solidFill>
      </p:bgPr>
    </p:bg>
    <p:spTree>
      <p:nvGrpSpPr>
        <p:cNvPr id="1" name=""/>
        <p:cNvGrpSpPr/>
        <p:nvPr/>
      </p:nvGrpSpPr>
      <p:grpSpPr>
        <a:xfrm>
          <a:off x="0" y="0"/>
          <a:ext cx="0" cy="0"/>
          <a:chOff x="0" y="0"/>
          <a:chExt cx="0" cy="0"/>
        </a:xfrm>
      </p:grpSpPr>
      <p:sp>
        <p:nvSpPr>
          <p:cNvPr id="2" name="Shape 0"/>
          <p:cNvSpPr/>
          <p:nvPr/>
        </p:nvSpPr>
        <p:spPr>
          <a:xfrm>
            <a:off x="640080" y="457200"/>
            <a:ext cx="777240" cy="777240"/>
          </a:xfrm>
          <a:prstGeom prst="ellipse">
            <a:avLst/>
          </a:prstGeom>
          <a:solidFill>
            <a:srgbClr val="1B1E4B"/>
          </a:solidFill>
          <a:ln/>
          <a:effectLst>
            <a:outerShdw sx="100000" sy="100000" kx="0" ky="0" algn="bl" rotWithShape="0" blurRad="114300" dist="38100" dir="5400000">
              <a:srgbClr val="1A1B34">
                <a:alpha val="12000"/>
              </a:srgbClr>
            </a:outerShdw>
          </a:effectLst>
        </p:spPr>
      </p:sp>
      <p:pic>
        <p:nvPicPr>
          <p:cNvPr id="3" name="Image 0" descr="preencoded.png">    </p:cNvPr>
          <p:cNvPicPr>
            <a:picLocks noChangeAspect="1"/>
          </p:cNvPicPr>
          <p:nvPr/>
        </p:nvPicPr>
        <p:blipFill>
          <a:blip r:embed="rId1"/>
          <a:stretch>
            <a:fillRect/>
          </a:stretch>
        </p:blipFill>
        <p:spPr>
          <a:xfrm>
            <a:off x="842162" y="659282"/>
            <a:ext cx="373075" cy="373075"/>
          </a:xfrm>
          <a:prstGeom prst="rect">
            <a:avLst/>
          </a:prstGeom>
        </p:spPr>
      </p:pic>
      <p:sp>
        <p:nvSpPr>
          <p:cNvPr id="4" name="Text 1"/>
          <p:cNvSpPr/>
          <p:nvPr/>
        </p:nvSpPr>
        <p:spPr>
          <a:xfrm>
            <a:off x="1600200" y="457200"/>
            <a:ext cx="9144000" cy="274320"/>
          </a:xfrm>
          <a:prstGeom prst="rect">
            <a:avLst/>
          </a:prstGeom>
          <a:noFill/>
          <a:ln/>
        </p:spPr>
        <p:txBody>
          <a:bodyPr wrap="square" lIns="0" tIns="0" rIns="0" bIns="0" rtlCol="0" anchor="ctr"/>
          <a:lstStyle/>
          <a:p>
            <a:pPr indent="0" marL="0">
              <a:buNone/>
            </a:pPr>
            <a:r>
              <a:rPr lang="en-US" sz="1200" b="1" spc="250" kern="0" dirty="0">
                <a:solidFill>
                  <a:srgbClr val="FF6B6B"/>
                </a:solidFill>
                <a:latin typeface="Calibri" pitchFamily="34" charset="0"/>
                <a:ea typeface="Calibri" pitchFamily="34" charset="-122"/>
                <a:cs typeface="Calibri" pitchFamily="34" charset="-120"/>
              </a:rPr>
              <a:t>PART 1</a:t>
            </a:r>
            <a:endParaRPr lang="en-US" sz="1200" dirty="0"/>
          </a:p>
        </p:txBody>
      </p:sp>
      <p:sp>
        <p:nvSpPr>
          <p:cNvPr id="5" name="Text 2"/>
          <p:cNvSpPr/>
          <p:nvPr/>
        </p:nvSpPr>
        <p:spPr>
          <a:xfrm>
            <a:off x="1572768" y="713232"/>
            <a:ext cx="10058400" cy="566928"/>
          </a:xfrm>
          <a:prstGeom prst="rect">
            <a:avLst/>
          </a:prstGeom>
          <a:noFill/>
          <a:ln/>
        </p:spPr>
        <p:txBody>
          <a:bodyPr wrap="square" lIns="0" tIns="0" rIns="0" bIns="0" rtlCol="0" anchor="ctr"/>
          <a:lstStyle/>
          <a:p>
            <a:pPr indent="0" marL="0">
              <a:buNone/>
            </a:pPr>
            <a:r>
              <a:rPr lang="en-US" sz="2800" b="1" dirty="0">
                <a:solidFill>
                  <a:srgbClr val="1A1B34"/>
                </a:solidFill>
                <a:latin typeface="Bookman Old Style" pitchFamily="34" charset="0"/>
                <a:ea typeface="Bookman Old Style" pitchFamily="34" charset="-122"/>
                <a:cs typeface="Bookman Old Style" pitchFamily="34" charset="-120"/>
              </a:rPr>
              <a:t>Release &amp; Remediate</a:t>
            </a:r>
            <a:endParaRPr lang="en-US" sz="2800" dirty="0"/>
          </a:p>
        </p:txBody>
      </p:sp>
      <p:sp>
        <p:nvSpPr>
          <p:cNvPr id="6" name="Text 3"/>
          <p:cNvSpPr/>
          <p:nvPr/>
        </p:nvSpPr>
        <p:spPr>
          <a:xfrm>
            <a:off x="1600200" y="1298448"/>
            <a:ext cx="10241280" cy="365760"/>
          </a:xfrm>
          <a:prstGeom prst="rect">
            <a:avLst/>
          </a:prstGeom>
          <a:noFill/>
          <a:ln/>
        </p:spPr>
        <p:txBody>
          <a:bodyPr wrap="square" lIns="0" tIns="0" rIns="0" bIns="0" rtlCol="0" anchor="ctr"/>
          <a:lstStyle/>
          <a:p>
            <a:pPr indent="0" marL="0">
              <a:buNone/>
            </a:pPr>
            <a:r>
              <a:rPr lang="en-US" sz="1400" i="1" dirty="0">
                <a:solidFill>
                  <a:srgbClr val="4B4D6B"/>
                </a:solidFill>
                <a:latin typeface="Calibri" pitchFamily="34" charset="0"/>
                <a:ea typeface="Calibri" pitchFamily="34" charset="-122"/>
                <a:cs typeface="Calibri" pitchFamily="34" charset="-120"/>
              </a:rPr>
              <a:t>Deploy ≠ release. And the undo button is instant.</a:t>
            </a:r>
            <a:endParaRPr lang="en-US" sz="1400" dirty="0"/>
          </a:p>
        </p:txBody>
      </p:sp>
      <p:sp>
        <p:nvSpPr>
          <p:cNvPr id="7" name="Text 4"/>
          <p:cNvSpPr/>
          <p:nvPr/>
        </p:nvSpPr>
        <p:spPr>
          <a:xfrm>
            <a:off x="640080" y="1874520"/>
            <a:ext cx="4572000" cy="256032"/>
          </a:xfrm>
          <a:prstGeom prst="rect">
            <a:avLst/>
          </a:prstGeom>
          <a:noFill/>
          <a:ln/>
        </p:spPr>
        <p:txBody>
          <a:bodyPr wrap="square" lIns="0" tIns="0" rIns="0" bIns="0" rtlCol="0" anchor="ctr"/>
          <a:lstStyle/>
          <a:p>
            <a:pPr indent="0" marL="0">
              <a:buNone/>
            </a:pPr>
            <a:r>
              <a:rPr lang="en-US" sz="1100" b="1" spc="200" kern="0" dirty="0">
                <a:solidFill>
                  <a:srgbClr val="6B7280"/>
                </a:solidFill>
                <a:latin typeface="Calibri" pitchFamily="34" charset="0"/>
                <a:ea typeface="Calibri" pitchFamily="34" charset="-122"/>
                <a:cs typeface="Calibri" pitchFamily="34" charset="-120"/>
              </a:rPr>
              <a:t>VALUE</a:t>
            </a:r>
            <a:endParaRPr lang="en-US" sz="1100" dirty="0"/>
          </a:p>
        </p:txBody>
      </p:sp>
      <p:sp>
        <p:nvSpPr>
          <p:cNvPr id="8" name="Text 5"/>
          <p:cNvSpPr/>
          <p:nvPr/>
        </p:nvSpPr>
        <p:spPr>
          <a:xfrm>
            <a:off x="640080" y="2167128"/>
            <a:ext cx="4572000" cy="20116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2C2E4A"/>
                </a:solidFill>
                <a:latin typeface="Calibri" pitchFamily="34" charset="0"/>
                <a:ea typeface="Calibri" pitchFamily="34" charset="-122"/>
                <a:cs typeface="Calibri" pitchFamily="34" charset="-120"/>
              </a:rPr>
              <a:t>Ship code dark, release as a business decision — no redeploy.</a:t>
            </a:r>
            <a:endParaRPr lang="en-US" sz="1250" dirty="0"/>
          </a:p>
          <a:p>
            <a:pPr marL="177800" indent="-177800">
              <a:spcAft>
                <a:spcPts val="700"/>
              </a:spcAft>
              <a:buSzPct val="100000"/>
              <a:buChar char="•"/>
            </a:pPr>
            <a:r>
              <a:rPr lang="en-US" sz="1250" dirty="0">
                <a:solidFill>
                  <a:srgbClr val="2C2E4A"/>
                </a:solidFill>
                <a:latin typeface="Calibri" pitchFamily="34" charset="0"/>
                <a:ea typeface="Calibri" pitchFamily="34" charset="-122"/>
                <a:cs typeface="Calibri" pitchFamily="34" charset="-120"/>
              </a:rPr>
              <a:t>Instant kill switch: roll back in seconds, not a rebuild-and-deploy.</a:t>
            </a:r>
            <a:endParaRPr lang="en-US" sz="1250" dirty="0"/>
          </a:p>
          <a:p>
            <a:pPr marL="177800" indent="-177800">
              <a:spcAft>
                <a:spcPts val="700"/>
              </a:spcAft>
              <a:buSzPct val="100000"/>
              <a:buChar char="•"/>
            </a:pPr>
            <a:r>
              <a:rPr lang="en-US" sz="1250" dirty="0">
                <a:solidFill>
                  <a:srgbClr val="2C2E4A"/>
                </a:solidFill>
                <a:latin typeface="Calibri" pitchFamily="34" charset="0"/>
                <a:ea typeface="Calibri" pitchFamily="34" charset="-122"/>
                <a:cs typeface="Calibri" pitchFamily="34" charset="-120"/>
              </a:rPr>
              <a:t>Remediate without engineers — a monitoring alert can fire the trigger.</a:t>
            </a:r>
            <a:endParaRPr lang="en-US" sz="1250" dirty="0"/>
          </a:p>
          <a:p>
            <a:pPr marL="177800" indent="-177800">
              <a:spcAft>
                <a:spcPts val="700"/>
              </a:spcAft>
              <a:buSzPct val="100000"/>
              <a:buChar char="•"/>
            </a:pPr>
            <a:r>
              <a:rPr lang="en-US" sz="1250" dirty="0">
                <a:solidFill>
                  <a:srgbClr val="2C2E4A"/>
                </a:solidFill>
                <a:latin typeface="Calibri" pitchFamily="34" charset="0"/>
                <a:ea typeface="Calibri" pitchFamily="34" charset="-122"/>
                <a:cs typeface="Calibri" pitchFamily="34" charset="-120"/>
              </a:rPr>
              <a:t>MTTR collapses: blast radius goes from an outage to seconds.</a:t>
            </a:r>
            <a:endParaRPr lang="en-US" sz="1250" dirty="0"/>
          </a:p>
        </p:txBody>
      </p:sp>
      <p:sp>
        <p:nvSpPr>
          <p:cNvPr id="9" name="Shape 6"/>
          <p:cNvSpPr/>
          <p:nvPr/>
        </p:nvSpPr>
        <p:spPr>
          <a:xfrm>
            <a:off x="640080" y="4114800"/>
            <a:ext cx="4572000" cy="2286000"/>
          </a:xfrm>
          <a:prstGeom prst="roundRect">
            <a:avLst>
              <a:gd name="adj" fmla="val 3200"/>
            </a:avLst>
          </a:prstGeom>
          <a:solidFill>
            <a:srgbClr val="0E1030"/>
          </a:solidFill>
          <a:ln/>
          <a:effectLst>
            <a:outerShdw sx="100000" sy="100000" kx="0" ky="0" algn="bl" rotWithShape="0" blurRad="114300" dist="38100" dir="5400000">
              <a:srgbClr val="1A1B34">
                <a:alpha val="12000"/>
              </a:srgbClr>
            </a:outerShdw>
          </a:effectLst>
        </p:spPr>
      </p:sp>
      <p:sp>
        <p:nvSpPr>
          <p:cNvPr id="10" name="Text 7"/>
          <p:cNvSpPr/>
          <p:nvPr/>
        </p:nvSpPr>
        <p:spPr>
          <a:xfrm>
            <a:off x="841248" y="4261104"/>
            <a:ext cx="4169664" cy="274320"/>
          </a:xfrm>
          <a:prstGeom prst="rect">
            <a:avLst/>
          </a:prstGeom>
          <a:noFill/>
          <a:ln/>
        </p:spPr>
        <p:txBody>
          <a:bodyPr wrap="square" lIns="0" tIns="0" rIns="0" bIns="0" rtlCol="0" anchor="ctr"/>
          <a:lstStyle/>
          <a:p>
            <a:pPr indent="0" marL="0">
              <a:buNone/>
            </a:pPr>
            <a:r>
              <a:rPr lang="en-US" sz="1050" b="1" spc="150" kern="0" dirty="0">
                <a:solidFill>
                  <a:srgbClr val="3DD6F5"/>
                </a:solidFill>
                <a:latin typeface="Calibri" pitchFamily="34" charset="0"/>
                <a:ea typeface="Calibri" pitchFamily="34" charset="-122"/>
                <a:cs typeface="Calibri" pitchFamily="34" charset="-120"/>
              </a:rPr>
              <a:t>WHAT WE SHOW IN THE APP</a:t>
            </a:r>
            <a:endParaRPr lang="en-US" sz="1050" dirty="0"/>
          </a:p>
        </p:txBody>
      </p:sp>
      <p:sp>
        <p:nvSpPr>
          <p:cNvPr id="11" name="Text 8"/>
          <p:cNvSpPr/>
          <p:nvPr/>
        </p:nvSpPr>
        <p:spPr>
          <a:xfrm>
            <a:off x="896112" y="4590288"/>
            <a:ext cx="4114800" cy="1645920"/>
          </a:xfrm>
          <a:prstGeom prst="rect">
            <a:avLst/>
          </a:prstGeom>
          <a:noFill/>
          <a:ln/>
        </p:spPr>
        <p:txBody>
          <a:bodyPr wrap="square" lIns="0" tIns="0" rIns="0" bIns="0" rtlCol="0" anchor="t"/>
          <a:lstStyle/>
          <a:p>
            <a:pPr marL="203200" indent="-203200">
              <a:spcAft>
                <a:spcPts val="600"/>
              </a:spcAft>
              <a:buSzPct val="100000"/>
              <a:buFont typeface="+mj-lt"/>
              <a:buAutoNum type="arabicPeriod" startAt="1"/>
            </a:pPr>
            <a:r>
              <a:rPr lang="en-US" sz="1150" dirty="0">
                <a:solidFill>
                  <a:srgbClr val="E7E9FA"/>
                </a:solidFill>
                <a:latin typeface="Calibri" pitchFamily="34" charset="0"/>
                <a:ea typeface="Calibri" pitchFamily="34" charset="-122"/>
                <a:cs typeface="Calibri" pitchFamily="34" charset="-120"/>
              </a:rPr>
              <a:t>Toggle release-recommendations ON → widget + ⚡ toast appear, no reload.</a:t>
            </a:r>
            <a:endParaRPr lang="en-US" sz="1150" dirty="0"/>
          </a:p>
          <a:p>
            <a:pPr marL="203200" indent="-203200">
              <a:spcAft>
                <a:spcPts val="600"/>
              </a:spcAft>
              <a:buSzPct val="100000"/>
              <a:buFont typeface="+mj-lt"/>
              <a:buAutoNum type="arabicPeriod" startAt="1"/>
            </a:pPr>
            <a:r>
              <a:rPr lang="en-US" sz="1150" dirty="0">
                <a:solidFill>
                  <a:srgbClr val="E7E9FA"/>
                </a:solidFill>
                <a:latin typeface="Calibri" pitchFamily="34" charset="0"/>
                <a:ea typeface="Calibri" pitchFamily="34" charset="-122"/>
                <a:cs typeface="Calibri" pitchFamily="34" charset="-120"/>
              </a:rPr>
              <a:t>“QA finds a bug.” curl the remediation trigger → feature vanishes instantly.</a:t>
            </a:r>
            <a:endParaRPr lang="en-US" sz="1150" dirty="0"/>
          </a:p>
        </p:txBody>
      </p:sp>
      <p:sp>
        <p:nvSpPr>
          <p:cNvPr id="12" name="Text 9"/>
          <p:cNvSpPr/>
          <p:nvPr/>
        </p:nvSpPr>
        <p:spPr>
          <a:xfrm>
            <a:off x="896112" y="5541264"/>
            <a:ext cx="4114800" cy="228600"/>
          </a:xfrm>
          <a:prstGeom prst="rect">
            <a:avLst/>
          </a:prstGeom>
          <a:noFill/>
          <a:ln/>
        </p:spPr>
        <p:txBody>
          <a:bodyPr wrap="square" lIns="0" tIns="0" rIns="0" bIns="0" rtlCol="0" anchor="ctr"/>
          <a:lstStyle/>
          <a:p>
            <a:pPr indent="0" marL="0">
              <a:buNone/>
            </a:pPr>
            <a:r>
              <a:rPr lang="en-US" sz="950" b="1" spc="100" kern="0" dirty="0">
                <a:solidFill>
                  <a:srgbClr val="3DD6F5"/>
                </a:solidFill>
                <a:latin typeface="Calibri" pitchFamily="34" charset="0"/>
                <a:ea typeface="Calibri" pitchFamily="34" charset="-122"/>
                <a:cs typeface="Calibri" pitchFamily="34" charset="-120"/>
              </a:rPr>
              <a:t>HOW THE TRIGGER WORKS</a:t>
            </a:r>
            <a:endParaRPr lang="en-US" sz="950" dirty="0"/>
          </a:p>
        </p:txBody>
      </p:sp>
      <p:sp>
        <p:nvSpPr>
          <p:cNvPr id="13" name="Text 10"/>
          <p:cNvSpPr/>
          <p:nvPr/>
        </p:nvSpPr>
        <p:spPr>
          <a:xfrm>
            <a:off x="896112" y="5760720"/>
            <a:ext cx="4114800" cy="603504"/>
          </a:xfrm>
          <a:prstGeom prst="rect">
            <a:avLst/>
          </a:prstGeom>
          <a:noFill/>
          <a:ln/>
        </p:spPr>
        <p:txBody>
          <a:bodyPr wrap="square" lIns="0" tIns="0" rIns="0" bIns="0" rtlCol="0" anchor="t"/>
          <a:lstStyle/>
          <a:p>
            <a:pPr indent="0" marL="0">
              <a:lnSpc>
                <a:spcPct val="102000"/>
              </a:lnSpc>
              <a:buNone/>
            </a:pPr>
            <a:r>
              <a:rPr lang="en-US" sz="950" dirty="0">
                <a:solidFill>
                  <a:srgbClr val="C9CCE6"/>
                </a:solidFill>
                <a:latin typeface="Calibri" pitchFamily="34" charset="0"/>
                <a:ea typeface="Calibri" pitchFamily="34" charset="-122"/>
                <a:cs typeface="Calibri" pitchFamily="34" charset="-120"/>
              </a:rPr>
              <a:t>A secret webhook URL bound to the flag with a “turn off” action. Any POST fires it — the URL is the credential, no login or API key. So a Datadog / PagerDuty alert can pull the kill switch automatically.</a:t>
            </a:r>
            <a:endParaRPr lang="en-US" sz="950" dirty="0"/>
          </a:p>
        </p:txBody>
      </p:sp>
      <p:sp>
        <p:nvSpPr>
          <p:cNvPr id="14" name="Shape 11"/>
          <p:cNvSpPr/>
          <p:nvPr/>
        </p:nvSpPr>
        <p:spPr>
          <a:xfrm>
            <a:off x="5532120" y="1874520"/>
            <a:ext cx="5989320" cy="2057400"/>
          </a:xfrm>
          <a:prstGeom prst="roundRect">
            <a:avLst>
              <a:gd name="adj" fmla="val 4000"/>
            </a:avLst>
          </a:prstGeom>
          <a:solidFill>
            <a:srgbClr val="FFFFFF"/>
          </a:solidFill>
          <a:ln w="12700">
            <a:solidFill>
              <a:srgbClr val="E4E6F0"/>
            </a:solidFill>
            <a:prstDash val="solid"/>
          </a:ln>
          <a:effectLst>
            <a:outerShdw sx="100000" sy="100000" kx="0" ky="0" algn="bl" rotWithShape="0" blurRad="114300" dist="38100" dir="5400000">
              <a:srgbClr val="1A1B34">
                <a:alpha val="12000"/>
              </a:srgbClr>
            </a:outerShdw>
          </a:effectLst>
        </p:spPr>
      </p:sp>
      <p:sp>
        <p:nvSpPr>
          <p:cNvPr id="15" name="Text 12"/>
          <p:cNvSpPr/>
          <p:nvPr/>
        </p:nvSpPr>
        <p:spPr>
          <a:xfrm>
            <a:off x="5760720" y="2029968"/>
            <a:ext cx="5486400" cy="274320"/>
          </a:xfrm>
          <a:prstGeom prst="rect">
            <a:avLst/>
          </a:prstGeom>
          <a:noFill/>
          <a:ln/>
        </p:spPr>
        <p:txBody>
          <a:bodyPr wrap="square" lIns="0" tIns="0" rIns="0" bIns="0" rtlCol="0" anchor="ctr"/>
          <a:lstStyle/>
          <a:p>
            <a:pPr indent="0" marL="0">
              <a:buNone/>
            </a:pPr>
            <a:r>
              <a:rPr lang="en-US" sz="1050" b="1" spc="150" kern="0" dirty="0">
                <a:solidFill>
                  <a:srgbClr val="6B7280"/>
                </a:solidFill>
                <a:latin typeface="Calibri" pitchFamily="34" charset="0"/>
                <a:ea typeface="Calibri" pitchFamily="34" charset="-122"/>
                <a:cs typeface="Calibri" pitchFamily="34" charset="-120"/>
              </a:rPr>
              <a:t>PROOF — PUBLISHED CUSTOMER RESULTS</a:t>
            </a:r>
            <a:endParaRPr lang="en-US" sz="1050" dirty="0"/>
          </a:p>
        </p:txBody>
      </p:sp>
      <p:sp>
        <p:nvSpPr>
          <p:cNvPr id="16" name="Text 13"/>
          <p:cNvSpPr/>
          <p:nvPr/>
        </p:nvSpPr>
        <p:spPr>
          <a:xfrm>
            <a:off x="5806440" y="2395728"/>
            <a:ext cx="1920240" cy="566928"/>
          </a:xfrm>
          <a:prstGeom prst="rect">
            <a:avLst/>
          </a:prstGeom>
          <a:noFill/>
          <a:ln/>
        </p:spPr>
        <p:txBody>
          <a:bodyPr wrap="square" lIns="0" tIns="0" rIns="0" bIns="0" rtlCol="0" anchor="ctr"/>
          <a:lstStyle/>
          <a:p>
            <a:pPr algn="l" indent="0" marL="0">
              <a:buNone/>
            </a:pPr>
            <a:r>
              <a:rPr lang="en-US" sz="3300" b="1" dirty="0">
                <a:solidFill>
                  <a:srgbClr val="FF6B6B"/>
                </a:solidFill>
                <a:latin typeface="Bookman Old Style" pitchFamily="34" charset="0"/>
                <a:ea typeface="Bookman Old Style" pitchFamily="34" charset="-122"/>
                <a:cs typeface="Bookman Old Style" pitchFamily="34" charset="-120"/>
              </a:rPr>
              <a:t>97%</a:t>
            </a:r>
            <a:endParaRPr lang="en-US" sz="3300" dirty="0"/>
          </a:p>
        </p:txBody>
      </p:sp>
      <p:sp>
        <p:nvSpPr>
          <p:cNvPr id="17" name="Text 14"/>
          <p:cNvSpPr/>
          <p:nvPr/>
        </p:nvSpPr>
        <p:spPr>
          <a:xfrm>
            <a:off x="5806440" y="2944368"/>
            <a:ext cx="1920240" cy="50292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Ally — fewer overnight/</a:t>
            </a:r>
            <a:endParaRPr lang="en-US" sz="1050" dirty="0"/>
          </a:p>
          <a:p>
            <a:pPr algn="l" indent="0" marL="0">
              <a:buNone/>
            </a:pPr>
            <a:r>
              <a:rPr lang="en-US" sz="1050" dirty="0">
                <a:solidFill>
                  <a:srgbClr val="6B7280"/>
                </a:solidFill>
                <a:latin typeface="Calibri" pitchFamily="34" charset="0"/>
                <a:ea typeface="Calibri" pitchFamily="34" charset="-122"/>
                <a:cs typeface="Calibri" pitchFamily="34" charset="-120"/>
              </a:rPr>
              <a:t>weekend releases</a:t>
            </a:r>
            <a:endParaRPr lang="en-US" sz="1050" dirty="0"/>
          </a:p>
        </p:txBody>
      </p:sp>
      <p:sp>
        <p:nvSpPr>
          <p:cNvPr id="18" name="Text 15"/>
          <p:cNvSpPr/>
          <p:nvPr/>
        </p:nvSpPr>
        <p:spPr>
          <a:xfrm>
            <a:off x="7863840" y="2395728"/>
            <a:ext cx="1828800" cy="566928"/>
          </a:xfrm>
          <a:prstGeom prst="rect">
            <a:avLst/>
          </a:prstGeom>
          <a:noFill/>
          <a:ln/>
        </p:spPr>
        <p:txBody>
          <a:bodyPr wrap="square" lIns="0" tIns="0" rIns="0" bIns="0" rtlCol="0" anchor="ctr"/>
          <a:lstStyle/>
          <a:p>
            <a:pPr algn="l" indent="0" marL="0">
              <a:buNone/>
            </a:pPr>
            <a:r>
              <a:rPr lang="en-US" sz="3300" b="1" dirty="0">
                <a:solidFill>
                  <a:srgbClr val="F5A524"/>
                </a:solidFill>
                <a:latin typeface="Bookman Old Style" pitchFamily="34" charset="0"/>
                <a:ea typeface="Bookman Old Style" pitchFamily="34" charset="-122"/>
                <a:cs typeface="Bookman Old Style" pitchFamily="34" charset="-120"/>
              </a:rPr>
              <a:t>90%</a:t>
            </a:r>
            <a:endParaRPr lang="en-US" sz="3300" dirty="0"/>
          </a:p>
        </p:txBody>
      </p:sp>
      <p:sp>
        <p:nvSpPr>
          <p:cNvPr id="19" name="Text 16"/>
          <p:cNvSpPr/>
          <p:nvPr/>
        </p:nvSpPr>
        <p:spPr>
          <a:xfrm>
            <a:off x="7863840" y="2944368"/>
            <a:ext cx="1828800" cy="50292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Jackpocket — fewer</a:t>
            </a:r>
            <a:endParaRPr lang="en-US" sz="1050" dirty="0"/>
          </a:p>
          <a:p>
            <a:pPr algn="l" indent="0" marL="0">
              <a:buNone/>
            </a:pPr>
            <a:r>
              <a:rPr lang="en-US" sz="1050" dirty="0">
                <a:solidFill>
                  <a:srgbClr val="6B7280"/>
                </a:solidFill>
                <a:latin typeface="Calibri" pitchFamily="34" charset="0"/>
                <a:ea typeface="Calibri" pitchFamily="34" charset="-122"/>
                <a:cs typeface="Calibri" pitchFamily="34" charset="-120"/>
              </a:rPr>
              <a:t>deploy incidents</a:t>
            </a:r>
            <a:endParaRPr lang="en-US" sz="1050" dirty="0"/>
          </a:p>
        </p:txBody>
      </p:sp>
      <p:sp>
        <p:nvSpPr>
          <p:cNvPr id="20" name="Text 17"/>
          <p:cNvSpPr/>
          <p:nvPr/>
        </p:nvSpPr>
        <p:spPr>
          <a:xfrm>
            <a:off x="9784080" y="2395728"/>
            <a:ext cx="1691640" cy="566928"/>
          </a:xfrm>
          <a:prstGeom prst="rect">
            <a:avLst/>
          </a:prstGeom>
          <a:noFill/>
          <a:ln/>
        </p:spPr>
        <p:txBody>
          <a:bodyPr wrap="square" lIns="0" tIns="0" rIns="0" bIns="0" rtlCol="0" anchor="ctr"/>
          <a:lstStyle/>
          <a:p>
            <a:pPr algn="l" indent="0" marL="0">
              <a:buNone/>
            </a:pPr>
            <a:r>
              <a:rPr lang="en-US" sz="3300" b="1" dirty="0">
                <a:solidFill>
                  <a:srgbClr val="6366F1"/>
                </a:solidFill>
                <a:latin typeface="Bookman Old Style" pitchFamily="34" charset="0"/>
                <a:ea typeface="Bookman Old Style" pitchFamily="34" charset="-122"/>
                <a:cs typeface="Bookman Old Style" pitchFamily="34" charset="-120"/>
              </a:rPr>
              <a:t>50%</a:t>
            </a:r>
            <a:endParaRPr lang="en-US" sz="3300" dirty="0"/>
          </a:p>
        </p:txBody>
      </p:sp>
      <p:sp>
        <p:nvSpPr>
          <p:cNvPr id="21" name="Text 18"/>
          <p:cNvSpPr/>
          <p:nvPr/>
        </p:nvSpPr>
        <p:spPr>
          <a:xfrm>
            <a:off x="9784080" y="2944368"/>
            <a:ext cx="1691640" cy="50292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AlayaCare —</a:t>
            </a:r>
            <a:endParaRPr lang="en-US" sz="1050" dirty="0"/>
          </a:p>
          <a:p>
            <a:pPr algn="l" indent="0" marL="0">
              <a:buNone/>
            </a:pPr>
            <a:r>
              <a:rPr lang="en-US" sz="1050" dirty="0">
                <a:solidFill>
                  <a:srgbClr val="6B7280"/>
                </a:solidFill>
                <a:latin typeface="Calibri" pitchFamily="34" charset="0"/>
                <a:ea typeface="Calibri" pitchFamily="34" charset="-122"/>
                <a:cs typeface="Calibri" pitchFamily="34" charset="-120"/>
              </a:rPr>
              <a:t>MTTR reduction</a:t>
            </a:r>
            <a:endParaRPr lang="en-US" sz="1050" dirty="0"/>
          </a:p>
        </p:txBody>
      </p:sp>
      <p:sp>
        <p:nvSpPr>
          <p:cNvPr id="22" name="Text 19"/>
          <p:cNvSpPr/>
          <p:nvPr/>
        </p:nvSpPr>
        <p:spPr>
          <a:xfrm>
            <a:off x="5532120" y="4114800"/>
            <a:ext cx="5486400" cy="27432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OBJECTIONS TO EXPECT</a:t>
            </a:r>
            <a:endParaRPr lang="en-US" sz="1100" dirty="0"/>
          </a:p>
        </p:txBody>
      </p:sp>
      <p:sp>
        <p:nvSpPr>
          <p:cNvPr id="23" name="Shape 20"/>
          <p:cNvSpPr/>
          <p:nvPr/>
        </p:nvSpPr>
        <p:spPr>
          <a:xfrm>
            <a:off x="5532120" y="4407408"/>
            <a:ext cx="2907792" cy="969264"/>
          </a:xfrm>
          <a:prstGeom prst="roundRect">
            <a:avLst>
              <a:gd name="adj" fmla="val 7547"/>
            </a:avLst>
          </a:prstGeom>
          <a:solidFill>
            <a:srgbClr val="EEF0FA"/>
          </a:solidFill>
          <a:ln w="12700">
            <a:solidFill>
              <a:srgbClr val="E4E6F0"/>
            </a:solidFill>
            <a:prstDash val="solid"/>
          </a:ln>
        </p:spPr>
      </p:sp>
      <p:sp>
        <p:nvSpPr>
          <p:cNvPr id="24" name="Text 21"/>
          <p:cNvSpPr/>
          <p:nvPr/>
        </p:nvSpPr>
        <p:spPr>
          <a:xfrm>
            <a:off x="5696712" y="4498848"/>
            <a:ext cx="2578608" cy="786384"/>
          </a:xfrm>
          <a:prstGeom prst="rect">
            <a:avLst/>
          </a:prstGeom>
          <a:noFill/>
          <a:ln/>
        </p:spPr>
        <p:txBody>
          <a:bodyPr wrap="square" rtlCol="0" anchor="t"/>
          <a:lstStyle/>
          <a:p>
            <a:pPr indent="0" marL="0">
              <a:lnSpc>
                <a:spcPct val="100000"/>
              </a:lnSpc>
              <a:buNone/>
            </a:pPr>
            <a:r>
              <a:rPr lang="en-US" sz="1050" b="1" dirty="0">
                <a:solidFill>
                  <a:srgbClr val="1A1B34"/>
                </a:solidFill>
                <a:latin typeface="Calibri" pitchFamily="34" charset="0"/>
                <a:ea typeface="Calibri" pitchFamily="34" charset="-122"/>
                <a:cs typeface="Calibri" pitchFamily="34" charset="-120"/>
              </a:rPr>
              <a:t>“We already do this with homegrown flags.”</a:t>
            </a:r>
            <a:endParaRPr lang="en-US" sz="1050" dirty="0"/>
          </a:p>
          <a:p>
            <a:pPr indent="0" marL="0">
              <a:lnSpc>
                <a:spcPct val="100000"/>
              </a:lnSpc>
              <a:buNone/>
            </a:pPr>
            <a:r>
              <a:rPr lang="en-US" sz="950" dirty="0">
                <a:solidFill>
                  <a:srgbClr val="44465F"/>
                </a:solidFill>
                <a:latin typeface="Calibri" pitchFamily="34" charset="0"/>
                <a:ea typeface="Calibri" pitchFamily="34" charset="-122"/>
                <a:cs typeface="Calibri" pitchFamily="34" charset="-120"/>
              </a:rPr>
              <a:t>No streaming, targeting, audit, or non-eng UI — and you own it forever.</a:t>
            </a:r>
            <a:endParaRPr lang="en-US" sz="1050" dirty="0"/>
          </a:p>
        </p:txBody>
      </p:sp>
      <p:sp>
        <p:nvSpPr>
          <p:cNvPr id="25" name="Shape 22"/>
          <p:cNvSpPr/>
          <p:nvPr/>
        </p:nvSpPr>
        <p:spPr>
          <a:xfrm>
            <a:off x="8613648" y="4407408"/>
            <a:ext cx="2907792" cy="969264"/>
          </a:xfrm>
          <a:prstGeom prst="roundRect">
            <a:avLst>
              <a:gd name="adj" fmla="val 7547"/>
            </a:avLst>
          </a:prstGeom>
          <a:solidFill>
            <a:srgbClr val="EEF0FA"/>
          </a:solidFill>
          <a:ln w="12700">
            <a:solidFill>
              <a:srgbClr val="E4E6F0"/>
            </a:solidFill>
            <a:prstDash val="solid"/>
          </a:ln>
        </p:spPr>
      </p:sp>
      <p:sp>
        <p:nvSpPr>
          <p:cNvPr id="26" name="Text 23"/>
          <p:cNvSpPr/>
          <p:nvPr/>
        </p:nvSpPr>
        <p:spPr>
          <a:xfrm>
            <a:off x="8778240" y="4498848"/>
            <a:ext cx="2578608" cy="786384"/>
          </a:xfrm>
          <a:prstGeom prst="rect">
            <a:avLst/>
          </a:prstGeom>
          <a:noFill/>
          <a:ln/>
        </p:spPr>
        <p:txBody>
          <a:bodyPr wrap="square" rtlCol="0" anchor="t"/>
          <a:lstStyle/>
          <a:p>
            <a:pPr indent="0" marL="0">
              <a:lnSpc>
                <a:spcPct val="100000"/>
              </a:lnSpc>
              <a:buNone/>
            </a:pPr>
            <a:r>
              <a:rPr lang="en-US" sz="1050" b="1" dirty="0">
                <a:solidFill>
                  <a:srgbClr val="1A1B34"/>
                </a:solidFill>
                <a:latin typeface="Calibri" pitchFamily="34" charset="0"/>
                <a:ea typeface="Calibri" pitchFamily="34" charset="-122"/>
                <a:cs typeface="Calibri" pitchFamily="34" charset="-120"/>
              </a:rPr>
              <a:t>“Isn't LD now a prod single point of failure?”</a:t>
            </a:r>
            <a:endParaRPr lang="en-US" sz="1050" dirty="0"/>
          </a:p>
          <a:p>
            <a:pPr indent="0" marL="0">
              <a:lnSpc>
                <a:spcPct val="100000"/>
              </a:lnSpc>
              <a:buNone/>
            </a:pPr>
            <a:r>
              <a:rPr lang="en-US" sz="950" dirty="0">
                <a:solidFill>
                  <a:srgbClr val="44465F"/>
                </a:solidFill>
                <a:latin typeface="Calibri" pitchFamily="34" charset="0"/>
                <a:ea typeface="Calibri" pitchFamily="34" charset="-122"/>
                <a:cs typeface="Calibri" pitchFamily="34" charset="-120"/>
              </a:rPr>
              <a:t>SDK evaluates locally + caches last-known rules; Relay Proxy; 99.99% SLA.</a:t>
            </a:r>
            <a:endParaRPr lang="en-US" sz="1050" dirty="0"/>
          </a:p>
        </p:txBody>
      </p:sp>
      <p:sp>
        <p:nvSpPr>
          <p:cNvPr id="27" name="Shape 24"/>
          <p:cNvSpPr/>
          <p:nvPr/>
        </p:nvSpPr>
        <p:spPr>
          <a:xfrm>
            <a:off x="5532120" y="5468112"/>
            <a:ext cx="2907792" cy="969264"/>
          </a:xfrm>
          <a:prstGeom prst="roundRect">
            <a:avLst>
              <a:gd name="adj" fmla="val 7547"/>
            </a:avLst>
          </a:prstGeom>
          <a:solidFill>
            <a:srgbClr val="EEF0FA"/>
          </a:solidFill>
          <a:ln w="12700">
            <a:solidFill>
              <a:srgbClr val="E4E6F0"/>
            </a:solidFill>
            <a:prstDash val="solid"/>
          </a:ln>
        </p:spPr>
      </p:sp>
      <p:sp>
        <p:nvSpPr>
          <p:cNvPr id="28" name="Text 25"/>
          <p:cNvSpPr/>
          <p:nvPr/>
        </p:nvSpPr>
        <p:spPr>
          <a:xfrm>
            <a:off x="5696712" y="5559552"/>
            <a:ext cx="2578608" cy="786384"/>
          </a:xfrm>
          <a:prstGeom prst="rect">
            <a:avLst/>
          </a:prstGeom>
          <a:noFill/>
          <a:ln/>
        </p:spPr>
        <p:txBody>
          <a:bodyPr wrap="square" rtlCol="0" anchor="t"/>
          <a:lstStyle/>
          <a:p>
            <a:pPr indent="0" marL="0">
              <a:lnSpc>
                <a:spcPct val="100000"/>
              </a:lnSpc>
              <a:buNone/>
            </a:pPr>
            <a:r>
              <a:rPr lang="en-US" sz="1050" b="1" dirty="0">
                <a:solidFill>
                  <a:srgbClr val="1A1B34"/>
                </a:solidFill>
                <a:latin typeface="Calibri" pitchFamily="34" charset="0"/>
                <a:ea typeface="Calibri" pitchFamily="34" charset="-122"/>
                <a:cs typeface="Calibri" pitchFamily="34" charset="-120"/>
              </a:rPr>
              <a:t>“Feature flags create tech debt.”</a:t>
            </a:r>
            <a:endParaRPr lang="en-US" sz="1050" dirty="0"/>
          </a:p>
          <a:p>
            <a:pPr indent="0" marL="0">
              <a:lnSpc>
                <a:spcPct val="100000"/>
              </a:lnSpc>
              <a:buNone/>
            </a:pPr>
            <a:r>
              <a:rPr lang="en-US" sz="950" dirty="0">
                <a:solidFill>
                  <a:srgbClr val="44465F"/>
                </a:solidFill>
                <a:latin typeface="Calibri" pitchFamily="34" charset="0"/>
                <a:ea typeface="Calibri" pitchFamily="34" charset="-122"/>
                <a:cs typeface="Calibri" pitchFamily="34" charset="-120"/>
              </a:rPr>
              <a:t>Code References, stale-flag detection, lifecycle &amp; archiving built in.</a:t>
            </a:r>
            <a:endParaRPr lang="en-US" sz="1050" dirty="0"/>
          </a:p>
        </p:txBody>
      </p:sp>
      <p:sp>
        <p:nvSpPr>
          <p:cNvPr id="29" name="Shape 26"/>
          <p:cNvSpPr/>
          <p:nvPr/>
        </p:nvSpPr>
        <p:spPr>
          <a:xfrm>
            <a:off x="8613648" y="5468112"/>
            <a:ext cx="2907792" cy="969264"/>
          </a:xfrm>
          <a:prstGeom prst="roundRect">
            <a:avLst>
              <a:gd name="adj" fmla="val 7547"/>
            </a:avLst>
          </a:prstGeom>
          <a:solidFill>
            <a:srgbClr val="EEF0FA"/>
          </a:solidFill>
          <a:ln w="12700">
            <a:solidFill>
              <a:srgbClr val="E4E6F0"/>
            </a:solidFill>
            <a:prstDash val="solid"/>
          </a:ln>
        </p:spPr>
      </p:sp>
      <p:sp>
        <p:nvSpPr>
          <p:cNvPr id="30" name="Text 27"/>
          <p:cNvSpPr/>
          <p:nvPr/>
        </p:nvSpPr>
        <p:spPr>
          <a:xfrm>
            <a:off x="8778240" y="5559552"/>
            <a:ext cx="2578608" cy="786384"/>
          </a:xfrm>
          <a:prstGeom prst="rect">
            <a:avLst/>
          </a:prstGeom>
          <a:noFill/>
          <a:ln/>
        </p:spPr>
        <p:txBody>
          <a:bodyPr wrap="square" rtlCol="0" anchor="t"/>
          <a:lstStyle/>
          <a:p>
            <a:pPr indent="0" marL="0">
              <a:lnSpc>
                <a:spcPct val="100000"/>
              </a:lnSpc>
              <a:buNone/>
            </a:pPr>
            <a:r>
              <a:rPr lang="en-US" sz="1050" b="1" dirty="0">
                <a:solidFill>
                  <a:srgbClr val="1A1B34"/>
                </a:solidFill>
                <a:latin typeface="Calibri" pitchFamily="34" charset="0"/>
                <a:ea typeface="Calibri" pitchFamily="34" charset="-122"/>
                <a:cs typeface="Calibri" pitchFamily="34" charset="-120"/>
              </a:rPr>
              <a:t>“A vendor can change our prod behavior.”</a:t>
            </a:r>
            <a:endParaRPr lang="en-US" sz="1050" dirty="0"/>
          </a:p>
          <a:p>
            <a:pPr indent="0" marL="0">
              <a:lnSpc>
                <a:spcPct val="100000"/>
              </a:lnSpc>
              <a:buNone/>
            </a:pPr>
            <a:r>
              <a:rPr lang="en-US" sz="950" dirty="0">
                <a:solidFill>
                  <a:srgbClr val="44465F"/>
                </a:solidFill>
                <a:latin typeface="Calibri" pitchFamily="34" charset="0"/>
                <a:ea typeface="Calibri" pitchFamily="34" charset="-122"/>
                <a:cs typeface="Calibri" pitchFamily="34" charset="-120"/>
              </a:rPr>
              <a:t>RBAC + approvals + audit log; secret vs public keys; SOC 2 / FedRAMP.</a:t>
            </a:r>
            <a:endParaRPr lang="en-US" sz="1050" dirty="0"/>
          </a:p>
        </p:txBody>
      </p:sp>
      <p:sp>
        <p:nvSpPr>
          <p:cNvPr id="31" name="Text 28"/>
          <p:cNvSpPr/>
          <p:nvPr/>
        </p:nvSpPr>
        <p:spPr>
          <a:xfrm>
            <a:off x="640080" y="6473952"/>
            <a:ext cx="7315200" cy="274320"/>
          </a:xfrm>
          <a:prstGeom prst="rect">
            <a:avLst/>
          </a:prstGeom>
          <a:noFill/>
          <a:ln/>
        </p:spPr>
        <p:txBody>
          <a:bodyPr wrap="square" lIns="0" tIns="0" rIns="0" bIns="0" rtlCol="0" anchor="ctr"/>
          <a:lstStyle/>
          <a:p>
            <a:pPr indent="0" marL="0">
              <a:buNone/>
            </a:pPr>
            <a:r>
              <a:rPr lang="en-US" sz="850" dirty="0">
                <a:solidFill>
                  <a:srgbClr val="AEB2C7"/>
                </a:solidFill>
                <a:latin typeface="Calibri" pitchFamily="34" charset="0"/>
                <a:ea typeface="Calibri" pitchFamily="34" charset="-122"/>
                <a:cs typeface="Calibri" pitchFamily="34" charset="-120"/>
              </a:rPr>
              <a:t>LaunchDarkly · Solution Overview for ABC Company</a:t>
            </a:r>
            <a:endParaRPr lang="en-US" sz="850" dirty="0"/>
          </a:p>
        </p:txBody>
      </p:sp>
      <p:sp>
        <p:nvSpPr>
          <p:cNvPr id="32" name="Text 29"/>
          <p:cNvSpPr/>
          <p:nvPr/>
        </p:nvSpPr>
        <p:spPr>
          <a:xfrm>
            <a:off x="11274552" y="6473952"/>
            <a:ext cx="365760" cy="274320"/>
          </a:xfrm>
          <a:prstGeom prst="rect">
            <a:avLst/>
          </a:prstGeom>
          <a:noFill/>
          <a:ln/>
        </p:spPr>
        <p:txBody>
          <a:bodyPr wrap="square" lIns="0" tIns="0" rIns="0" bIns="0" rtlCol="0" anchor="ctr"/>
          <a:lstStyle/>
          <a:p>
            <a:pPr algn="r" indent="0" marL="0">
              <a:buNone/>
            </a:pPr>
            <a:r>
              <a:rPr lang="en-US" sz="850" dirty="0">
                <a:solidFill>
                  <a:srgbClr val="AEB2C7"/>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C"/>
        </a:solidFill>
      </p:bgPr>
    </p:bg>
    <p:spTree>
      <p:nvGrpSpPr>
        <p:cNvPr id="1" name=""/>
        <p:cNvGrpSpPr/>
        <p:nvPr/>
      </p:nvGrpSpPr>
      <p:grpSpPr>
        <a:xfrm>
          <a:off x="0" y="0"/>
          <a:ext cx="0" cy="0"/>
          <a:chOff x="0" y="0"/>
          <a:chExt cx="0" cy="0"/>
        </a:xfrm>
      </p:grpSpPr>
      <p:sp>
        <p:nvSpPr>
          <p:cNvPr id="2" name="Shape 0"/>
          <p:cNvSpPr/>
          <p:nvPr/>
        </p:nvSpPr>
        <p:spPr>
          <a:xfrm>
            <a:off x="640080" y="457200"/>
            <a:ext cx="777240" cy="777240"/>
          </a:xfrm>
          <a:prstGeom prst="ellipse">
            <a:avLst/>
          </a:prstGeom>
          <a:solidFill>
            <a:srgbClr val="1B1E4B"/>
          </a:solidFill>
          <a:ln/>
          <a:effectLst>
            <a:outerShdw sx="100000" sy="100000" kx="0" ky="0" algn="bl" rotWithShape="0" blurRad="114300" dist="38100" dir="5400000">
              <a:srgbClr val="1A1B34">
                <a:alpha val="12000"/>
              </a:srgbClr>
            </a:outerShdw>
          </a:effectLst>
        </p:spPr>
      </p:sp>
      <p:pic>
        <p:nvPicPr>
          <p:cNvPr id="3" name="Image 0" descr="preencoded.png">    </p:cNvPr>
          <p:cNvPicPr>
            <a:picLocks noChangeAspect="1"/>
          </p:cNvPicPr>
          <p:nvPr/>
        </p:nvPicPr>
        <p:blipFill>
          <a:blip r:embed="rId1"/>
          <a:stretch>
            <a:fillRect/>
          </a:stretch>
        </p:blipFill>
        <p:spPr>
          <a:xfrm>
            <a:off x="842162" y="659282"/>
            <a:ext cx="373075" cy="373075"/>
          </a:xfrm>
          <a:prstGeom prst="rect">
            <a:avLst/>
          </a:prstGeom>
        </p:spPr>
      </p:pic>
      <p:sp>
        <p:nvSpPr>
          <p:cNvPr id="4" name="Text 1"/>
          <p:cNvSpPr/>
          <p:nvPr/>
        </p:nvSpPr>
        <p:spPr>
          <a:xfrm>
            <a:off x="1600200" y="457200"/>
            <a:ext cx="9144000" cy="274320"/>
          </a:xfrm>
          <a:prstGeom prst="rect">
            <a:avLst/>
          </a:prstGeom>
          <a:noFill/>
          <a:ln/>
        </p:spPr>
        <p:txBody>
          <a:bodyPr wrap="square" lIns="0" tIns="0" rIns="0" bIns="0" rtlCol="0" anchor="ctr"/>
          <a:lstStyle/>
          <a:p>
            <a:pPr indent="0" marL="0">
              <a:buNone/>
            </a:pPr>
            <a:r>
              <a:rPr lang="en-US" sz="1200" b="1" spc="250" kern="0" dirty="0">
                <a:solidFill>
                  <a:srgbClr val="6366F1"/>
                </a:solidFill>
                <a:latin typeface="Calibri" pitchFamily="34" charset="0"/>
                <a:ea typeface="Calibri" pitchFamily="34" charset="-122"/>
                <a:cs typeface="Calibri" pitchFamily="34" charset="-120"/>
              </a:rPr>
              <a:t>PART 2</a:t>
            </a:r>
            <a:endParaRPr lang="en-US" sz="1200" dirty="0"/>
          </a:p>
        </p:txBody>
      </p:sp>
      <p:sp>
        <p:nvSpPr>
          <p:cNvPr id="5" name="Text 2"/>
          <p:cNvSpPr/>
          <p:nvPr/>
        </p:nvSpPr>
        <p:spPr>
          <a:xfrm>
            <a:off x="1572768" y="713232"/>
            <a:ext cx="10058400" cy="566928"/>
          </a:xfrm>
          <a:prstGeom prst="rect">
            <a:avLst/>
          </a:prstGeom>
          <a:noFill/>
          <a:ln/>
        </p:spPr>
        <p:txBody>
          <a:bodyPr wrap="square" lIns="0" tIns="0" rIns="0" bIns="0" rtlCol="0" anchor="ctr"/>
          <a:lstStyle/>
          <a:p>
            <a:pPr indent="0" marL="0">
              <a:buNone/>
            </a:pPr>
            <a:r>
              <a:rPr lang="en-US" sz="2800" b="1" dirty="0">
                <a:solidFill>
                  <a:srgbClr val="1A1B34"/>
                </a:solidFill>
                <a:latin typeface="Bookman Old Style" pitchFamily="34" charset="0"/>
                <a:ea typeface="Bookman Old Style" pitchFamily="34" charset="-122"/>
                <a:cs typeface="Bookman Old Style" pitchFamily="34" charset="-120"/>
              </a:rPr>
              <a:t>Target</a:t>
            </a:r>
            <a:endParaRPr lang="en-US" sz="2800" dirty="0"/>
          </a:p>
        </p:txBody>
      </p:sp>
      <p:sp>
        <p:nvSpPr>
          <p:cNvPr id="6" name="Text 3"/>
          <p:cNvSpPr/>
          <p:nvPr/>
        </p:nvSpPr>
        <p:spPr>
          <a:xfrm>
            <a:off x="1600200" y="1298448"/>
            <a:ext cx="10241280" cy="365760"/>
          </a:xfrm>
          <a:prstGeom prst="rect">
            <a:avLst/>
          </a:prstGeom>
          <a:noFill/>
          <a:ln/>
        </p:spPr>
        <p:txBody>
          <a:bodyPr wrap="square" lIns="0" tIns="0" rIns="0" bIns="0" rtlCol="0" anchor="ctr"/>
          <a:lstStyle/>
          <a:p>
            <a:pPr indent="0" marL="0">
              <a:buNone/>
            </a:pPr>
            <a:r>
              <a:rPr lang="en-US" sz="1400" i="1" dirty="0">
                <a:solidFill>
                  <a:srgbClr val="4B4D6B"/>
                </a:solidFill>
                <a:latin typeface="Calibri" pitchFamily="34" charset="0"/>
                <a:ea typeface="Calibri" pitchFamily="34" charset="-122"/>
                <a:cs typeface="Calibri" pitchFamily="34" charset="-120"/>
              </a:rPr>
              <a:t>Test in production, safely — to exactly the right audience.</a:t>
            </a:r>
            <a:endParaRPr lang="en-US" sz="1400" dirty="0"/>
          </a:p>
        </p:txBody>
      </p:sp>
      <p:sp>
        <p:nvSpPr>
          <p:cNvPr id="7" name="Text 4"/>
          <p:cNvSpPr/>
          <p:nvPr/>
        </p:nvSpPr>
        <p:spPr>
          <a:xfrm>
            <a:off x="640080" y="1874520"/>
            <a:ext cx="4572000" cy="256032"/>
          </a:xfrm>
          <a:prstGeom prst="rect">
            <a:avLst/>
          </a:prstGeom>
          <a:noFill/>
          <a:ln/>
        </p:spPr>
        <p:txBody>
          <a:bodyPr wrap="square" lIns="0" tIns="0" rIns="0" bIns="0" rtlCol="0" anchor="ctr"/>
          <a:lstStyle/>
          <a:p>
            <a:pPr indent="0" marL="0">
              <a:buNone/>
            </a:pPr>
            <a:r>
              <a:rPr lang="en-US" sz="1100" b="1" spc="200" kern="0" dirty="0">
                <a:solidFill>
                  <a:srgbClr val="6B7280"/>
                </a:solidFill>
                <a:latin typeface="Calibri" pitchFamily="34" charset="0"/>
                <a:ea typeface="Calibri" pitchFamily="34" charset="-122"/>
                <a:cs typeface="Calibri" pitchFamily="34" charset="-120"/>
              </a:rPr>
              <a:t>VALUE</a:t>
            </a:r>
            <a:endParaRPr lang="en-US" sz="1100" dirty="0"/>
          </a:p>
        </p:txBody>
      </p:sp>
      <p:sp>
        <p:nvSpPr>
          <p:cNvPr id="8" name="Text 5"/>
          <p:cNvSpPr/>
          <p:nvPr/>
        </p:nvSpPr>
        <p:spPr>
          <a:xfrm>
            <a:off x="640080" y="2167128"/>
            <a:ext cx="4572000" cy="20116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2C2E4A"/>
                </a:solidFill>
                <a:latin typeface="Calibri" pitchFamily="34" charset="0"/>
                <a:ea typeface="Calibri" pitchFamily="34" charset="-122"/>
                <a:cs typeface="Calibri" pitchFamily="34" charset="-120"/>
              </a:rPr>
              <a:t>Progressive rollout: you → team → 1% → enterprise, in real prod.</a:t>
            </a:r>
            <a:endParaRPr lang="en-US" sz="1250" dirty="0"/>
          </a:p>
          <a:p>
            <a:pPr marL="177800" indent="-177800">
              <a:spcAft>
                <a:spcPts val="700"/>
              </a:spcAft>
              <a:buSzPct val="100000"/>
              <a:buChar char="•"/>
            </a:pPr>
            <a:r>
              <a:rPr lang="en-US" sz="1250" dirty="0">
                <a:solidFill>
                  <a:srgbClr val="2C2E4A"/>
                </a:solidFill>
                <a:latin typeface="Calibri" pitchFamily="34" charset="0"/>
                <a:ea typeface="Calibri" pitchFamily="34" charset="-122"/>
                <a:cs typeface="Calibri" pitchFamily="34" charset="-120"/>
              </a:rPr>
              <a:t>Individual + rule-based targeting with no code change.</a:t>
            </a:r>
            <a:endParaRPr lang="en-US" sz="1250" dirty="0"/>
          </a:p>
          <a:p>
            <a:pPr marL="177800" indent="-177800">
              <a:spcAft>
                <a:spcPts val="700"/>
              </a:spcAft>
              <a:buSzPct val="100000"/>
              <a:buChar char="•"/>
            </a:pPr>
            <a:r>
              <a:rPr lang="en-US" sz="1250" dirty="0">
                <a:solidFill>
                  <a:srgbClr val="2C2E4A"/>
                </a:solidFill>
                <a:latin typeface="Calibri" pitchFamily="34" charset="0"/>
                <a:ea typeface="Calibri" pitchFamily="34" charset="-122"/>
                <a:cs typeface="Calibri" pitchFamily="34" charset="-120"/>
              </a:rPr>
              <a:t>Multi-context: target on the user AND their org / plan / device.</a:t>
            </a:r>
            <a:endParaRPr lang="en-US" sz="1250" dirty="0"/>
          </a:p>
          <a:p>
            <a:pPr marL="177800" indent="-177800">
              <a:spcAft>
                <a:spcPts val="700"/>
              </a:spcAft>
              <a:buSzPct val="100000"/>
              <a:buChar char="•"/>
            </a:pPr>
            <a:r>
              <a:rPr lang="en-US" sz="1250" dirty="0">
                <a:solidFill>
                  <a:srgbClr val="2C2E4A"/>
                </a:solidFill>
                <a:latin typeface="Calibri" pitchFamily="34" charset="0"/>
                <a:ea typeface="Calibri" pitchFamily="34" charset="-122"/>
                <a:cs typeface="Calibri" pitchFamily="34" charset="-120"/>
              </a:rPr>
              <a:t>A bug hits 1% of a canary, not all 40,000 daily visitors.</a:t>
            </a:r>
            <a:endParaRPr lang="en-US" sz="1250" dirty="0"/>
          </a:p>
        </p:txBody>
      </p:sp>
      <p:sp>
        <p:nvSpPr>
          <p:cNvPr id="9" name="Shape 6"/>
          <p:cNvSpPr/>
          <p:nvPr/>
        </p:nvSpPr>
        <p:spPr>
          <a:xfrm>
            <a:off x="640080" y="4160520"/>
            <a:ext cx="4572000" cy="2057400"/>
          </a:xfrm>
          <a:prstGeom prst="roundRect">
            <a:avLst>
              <a:gd name="adj" fmla="val 3556"/>
            </a:avLst>
          </a:prstGeom>
          <a:solidFill>
            <a:srgbClr val="0E1030"/>
          </a:solidFill>
          <a:ln/>
          <a:effectLst>
            <a:outerShdw sx="100000" sy="100000" kx="0" ky="0" algn="bl" rotWithShape="0" blurRad="114300" dist="38100" dir="5400000">
              <a:srgbClr val="1A1B34">
                <a:alpha val="12000"/>
              </a:srgbClr>
            </a:outerShdw>
          </a:effectLst>
        </p:spPr>
      </p:sp>
      <p:sp>
        <p:nvSpPr>
          <p:cNvPr id="10" name="Text 7"/>
          <p:cNvSpPr/>
          <p:nvPr/>
        </p:nvSpPr>
        <p:spPr>
          <a:xfrm>
            <a:off x="841248" y="4306824"/>
            <a:ext cx="4169664" cy="274320"/>
          </a:xfrm>
          <a:prstGeom prst="rect">
            <a:avLst/>
          </a:prstGeom>
          <a:noFill/>
          <a:ln/>
        </p:spPr>
        <p:txBody>
          <a:bodyPr wrap="square" lIns="0" tIns="0" rIns="0" bIns="0" rtlCol="0" anchor="ctr"/>
          <a:lstStyle/>
          <a:p>
            <a:pPr indent="0" marL="0">
              <a:buNone/>
            </a:pPr>
            <a:r>
              <a:rPr lang="en-US" sz="1050" b="1" spc="150" kern="0" dirty="0">
                <a:solidFill>
                  <a:srgbClr val="3DD6F5"/>
                </a:solidFill>
                <a:latin typeface="Calibri" pitchFamily="34" charset="0"/>
                <a:ea typeface="Calibri" pitchFamily="34" charset="-122"/>
                <a:cs typeface="Calibri" pitchFamily="34" charset="-120"/>
              </a:rPr>
              <a:t>WHAT WE SHOW IN THE APP</a:t>
            </a:r>
            <a:endParaRPr lang="en-US" sz="1050" dirty="0"/>
          </a:p>
        </p:txBody>
      </p:sp>
      <p:sp>
        <p:nvSpPr>
          <p:cNvPr id="11" name="Text 8"/>
          <p:cNvSpPr/>
          <p:nvPr/>
        </p:nvSpPr>
        <p:spPr>
          <a:xfrm>
            <a:off x="896112" y="4636008"/>
            <a:ext cx="4114800" cy="1417320"/>
          </a:xfrm>
          <a:prstGeom prst="rect">
            <a:avLst/>
          </a:prstGeom>
          <a:noFill/>
          <a:ln/>
        </p:spPr>
        <p:txBody>
          <a:bodyPr wrap="square" lIns="0" tIns="0" rIns="0" bIns="0" rtlCol="0" anchor="t"/>
          <a:lstStyle/>
          <a:p>
            <a:pPr marL="203200" indent="-203200">
              <a:spcAft>
                <a:spcPts val="600"/>
              </a:spcAft>
              <a:buSzPct val="100000"/>
              <a:buFont typeface="+mj-lt"/>
              <a:buAutoNum type="arabicPeriod" startAt="1"/>
            </a:pPr>
            <a:r>
              <a:rPr lang="en-US" sz="1150" dirty="0">
                <a:solidFill>
                  <a:srgbClr val="E7E9FA"/>
                </a:solidFill>
                <a:latin typeface="Calibri" pitchFamily="34" charset="0"/>
                <a:ea typeface="Calibri" pitchFamily="34" charset="-122"/>
                <a:cs typeface="Calibri" pitchFamily="34" charset="-120"/>
              </a:rPr>
              <a:t>Switch persona → identify() re-evaluates every flag live.</a:t>
            </a:r>
            <a:endParaRPr lang="en-US" sz="1150" dirty="0"/>
          </a:p>
          <a:p>
            <a:pPr marL="203200" indent="-203200">
              <a:spcAft>
                <a:spcPts val="600"/>
              </a:spcAft>
              <a:buSzPct val="100000"/>
              <a:buFont typeface="+mj-lt"/>
              <a:buAutoNum type="arabicPeriod" startAt="1"/>
            </a:pPr>
            <a:r>
              <a:rPr lang="en-US" sz="1150" dirty="0">
                <a:solidFill>
                  <a:srgbClr val="E7E9FA"/>
                </a:solidFill>
                <a:latin typeface="Calibri" pitchFamily="34" charset="0"/>
                <a:ea typeface="Calibri" pitchFamily="34" charset="-122"/>
                <a:cs typeface="Calibri" pitchFamily="34" charset="-120"/>
              </a:rPr>
              <a:t>Inspector panel shows exactly what the SDK evaluated, and why.</a:t>
            </a:r>
            <a:endParaRPr lang="en-US" sz="1150" dirty="0"/>
          </a:p>
        </p:txBody>
      </p:sp>
      <p:sp>
        <p:nvSpPr>
          <p:cNvPr id="12" name="Text 9"/>
          <p:cNvSpPr/>
          <p:nvPr/>
        </p:nvSpPr>
        <p:spPr>
          <a:xfrm>
            <a:off x="896112" y="5102352"/>
            <a:ext cx="4114800" cy="228600"/>
          </a:xfrm>
          <a:prstGeom prst="rect">
            <a:avLst/>
          </a:prstGeom>
          <a:noFill/>
          <a:ln/>
        </p:spPr>
        <p:txBody>
          <a:bodyPr wrap="square" lIns="0" tIns="0" rIns="0" bIns="0" rtlCol="0" anchor="ctr"/>
          <a:lstStyle/>
          <a:p>
            <a:pPr indent="0" marL="0">
              <a:buNone/>
            </a:pPr>
            <a:r>
              <a:rPr lang="en-US" sz="950" b="1" spc="100" kern="0" dirty="0">
                <a:solidFill>
                  <a:srgbClr val="3DD6F5"/>
                </a:solidFill>
                <a:latin typeface="Calibri" pitchFamily="34" charset="0"/>
                <a:ea typeface="Calibri" pitchFamily="34" charset="-122"/>
                <a:cs typeface="Calibri" pitchFamily="34" charset="-120"/>
              </a:rPr>
              <a:t>WHERE DO THE ATTRIBUTES COME FROM?</a:t>
            </a:r>
            <a:endParaRPr lang="en-US" sz="950" dirty="0"/>
          </a:p>
        </p:txBody>
      </p:sp>
      <p:sp>
        <p:nvSpPr>
          <p:cNvPr id="13" name="Text 10"/>
          <p:cNvSpPr/>
          <p:nvPr/>
        </p:nvSpPr>
        <p:spPr>
          <a:xfrm>
            <a:off x="896112" y="5330952"/>
            <a:ext cx="4114800" cy="777240"/>
          </a:xfrm>
          <a:prstGeom prst="rect">
            <a:avLst/>
          </a:prstGeom>
          <a:noFill/>
          <a:ln/>
        </p:spPr>
        <p:txBody>
          <a:bodyPr wrap="square" lIns="0" tIns="0" rIns="0" bIns="0" rtlCol="0" anchor="t"/>
          <a:lstStyle/>
          <a:p>
            <a:pPr indent="0" marL="0">
              <a:lnSpc>
                <a:spcPct val="105000"/>
              </a:lnSpc>
              <a:buNone/>
            </a:pPr>
            <a:r>
              <a:rPr lang="en-US" sz="950" dirty="0">
                <a:solidFill>
                  <a:srgbClr val="C9CCE6"/>
                </a:solidFill>
                <a:latin typeface="Calibri" pitchFamily="34" charset="0"/>
                <a:ea typeface="Calibri" pitchFamily="34" charset="-122"/>
                <a:cs typeface="Calibri" pitchFamily="34" charset="-120"/>
              </a:rPr>
              <a:t>Your app builds the context from auth / session — key = user ID, plan from billing, country from profile. LD targets only on what you send; the dropdown is a demo stand-in for real identity.</a:t>
            </a:r>
            <a:endParaRPr lang="en-US" sz="950" dirty="0"/>
          </a:p>
        </p:txBody>
      </p:sp>
      <p:sp>
        <p:nvSpPr>
          <p:cNvPr id="14" name="Shape 11"/>
          <p:cNvSpPr/>
          <p:nvPr/>
        </p:nvSpPr>
        <p:spPr>
          <a:xfrm>
            <a:off x="5532120" y="1874520"/>
            <a:ext cx="5989320" cy="2057400"/>
          </a:xfrm>
          <a:prstGeom prst="roundRect">
            <a:avLst>
              <a:gd name="adj" fmla="val 4000"/>
            </a:avLst>
          </a:prstGeom>
          <a:solidFill>
            <a:srgbClr val="FFFFFF"/>
          </a:solidFill>
          <a:ln w="12700">
            <a:solidFill>
              <a:srgbClr val="E4E6F0"/>
            </a:solidFill>
            <a:prstDash val="solid"/>
          </a:ln>
          <a:effectLst>
            <a:outerShdw sx="100000" sy="100000" kx="0" ky="0" algn="bl" rotWithShape="0" blurRad="114300" dist="38100" dir="5400000">
              <a:srgbClr val="1A1B34">
                <a:alpha val="12000"/>
              </a:srgbClr>
            </a:outerShdw>
          </a:effectLst>
        </p:spPr>
      </p:sp>
      <p:sp>
        <p:nvSpPr>
          <p:cNvPr id="15" name="Text 12"/>
          <p:cNvSpPr/>
          <p:nvPr/>
        </p:nvSpPr>
        <p:spPr>
          <a:xfrm>
            <a:off x="5760720" y="2011680"/>
            <a:ext cx="5486400" cy="274320"/>
          </a:xfrm>
          <a:prstGeom prst="rect">
            <a:avLst/>
          </a:prstGeom>
          <a:noFill/>
          <a:ln/>
        </p:spPr>
        <p:txBody>
          <a:bodyPr wrap="square" lIns="0" tIns="0" rIns="0" bIns="0" rtlCol="0" anchor="ctr"/>
          <a:lstStyle/>
          <a:p>
            <a:pPr indent="0" marL="0">
              <a:buNone/>
            </a:pPr>
            <a:r>
              <a:rPr lang="en-US" sz="1050" b="1" spc="150" kern="0" dirty="0">
                <a:solidFill>
                  <a:srgbClr val="6B7280"/>
                </a:solidFill>
                <a:latin typeface="Calibri" pitchFamily="34" charset="0"/>
                <a:ea typeface="Calibri" pitchFamily="34" charset="-122"/>
                <a:cs typeface="Calibri" pitchFamily="34" charset="-120"/>
              </a:rPr>
              <a:t>TARGETING, MADE TANGIBLE</a:t>
            </a:r>
            <a:endParaRPr lang="en-US" sz="1050" dirty="0"/>
          </a:p>
        </p:txBody>
      </p:sp>
      <p:sp>
        <p:nvSpPr>
          <p:cNvPr id="16" name="Shape 13"/>
          <p:cNvSpPr/>
          <p:nvPr/>
        </p:nvSpPr>
        <p:spPr>
          <a:xfrm>
            <a:off x="5806440" y="2340864"/>
            <a:ext cx="365760" cy="365760"/>
          </a:xfrm>
          <a:prstGeom prst="ellipse">
            <a:avLst/>
          </a:prstGeom>
          <a:solidFill>
            <a:srgbClr val="F0F1FB"/>
          </a:solidFill>
          <a:ln/>
          <a:effectLst>
            <a:outerShdw sx="100000" sy="100000" kx="0" ky="0" algn="bl" rotWithShape="0" blurRad="114300" dist="38100" dir="5400000">
              <a:srgbClr val="1A1B34">
                <a:alpha val="12000"/>
              </a:srgbClr>
            </a:outerShdw>
          </a:effectLst>
        </p:spPr>
      </p:sp>
      <p:pic>
        <p:nvPicPr>
          <p:cNvPr id="17" name="Image 1" descr="preencoded.png">    </p:cNvPr>
          <p:cNvPicPr>
            <a:picLocks noChangeAspect="1"/>
          </p:cNvPicPr>
          <p:nvPr/>
        </p:nvPicPr>
        <p:blipFill>
          <a:blip r:embed="rId2"/>
          <a:stretch>
            <a:fillRect/>
          </a:stretch>
        </p:blipFill>
        <p:spPr>
          <a:xfrm>
            <a:off x="5901538" y="2435962"/>
            <a:ext cx="175565" cy="175565"/>
          </a:xfrm>
          <a:prstGeom prst="rect">
            <a:avLst/>
          </a:prstGeom>
        </p:spPr>
      </p:pic>
      <p:sp>
        <p:nvSpPr>
          <p:cNvPr id="18" name="Text 14"/>
          <p:cNvSpPr/>
          <p:nvPr/>
        </p:nvSpPr>
        <p:spPr>
          <a:xfrm>
            <a:off x="6263640" y="2313432"/>
            <a:ext cx="5120640" cy="438912"/>
          </a:xfrm>
          <a:prstGeom prst="rect">
            <a:avLst/>
          </a:prstGeom>
          <a:noFill/>
          <a:ln/>
        </p:spPr>
        <p:txBody>
          <a:bodyPr wrap="square" lIns="0" tIns="0" rIns="0" bIns="0" rtlCol="0" anchor="ctr"/>
          <a:lstStyle/>
          <a:p>
            <a:pPr indent="0" marL="0">
              <a:buNone/>
            </a:pPr>
            <a:r>
              <a:rPr lang="en-US" sz="1200" b="1" dirty="0">
                <a:solidFill>
                  <a:srgbClr val="1A1B34"/>
                </a:solidFill>
                <a:latin typeface="Calibri" pitchFamily="34" charset="0"/>
                <a:ea typeface="Calibri" pitchFamily="34" charset="-122"/>
                <a:cs typeface="Calibri" pitchFamily="34" charset="-120"/>
              </a:rPr>
              <a:t>Riya  </a:t>
            </a:r>
            <a:pPr indent="0" marL="0">
              <a:buNone/>
            </a:pPr>
            <a:r>
              <a:rPr lang="en-US" sz="1100" dirty="0">
                <a:solidFill>
                  <a:srgbClr val="4B4D6B"/>
                </a:solidFill>
                <a:latin typeface="Calibri" pitchFamily="34" charset="0"/>
                <a:ea typeface="Calibri" pitchFamily="34" charset="-122"/>
                <a:cs typeface="Calibri" pitchFamily="34" charset="-120"/>
              </a:rPr>
              <a:t>individually targeted by user.key → always gets the new hero</a:t>
            </a:r>
            <a:endParaRPr lang="en-US" sz="1200" dirty="0"/>
          </a:p>
        </p:txBody>
      </p:sp>
      <p:sp>
        <p:nvSpPr>
          <p:cNvPr id="19" name="Shape 15"/>
          <p:cNvSpPr/>
          <p:nvPr/>
        </p:nvSpPr>
        <p:spPr>
          <a:xfrm>
            <a:off x="5806440" y="2843784"/>
            <a:ext cx="365760" cy="365760"/>
          </a:xfrm>
          <a:prstGeom prst="ellipse">
            <a:avLst/>
          </a:prstGeom>
          <a:solidFill>
            <a:srgbClr val="F0F1FB"/>
          </a:solidFill>
          <a:ln/>
          <a:effectLst>
            <a:outerShdw sx="100000" sy="100000" kx="0" ky="0" algn="bl" rotWithShape="0" blurRad="114300" dist="38100" dir="5400000">
              <a:srgbClr val="1A1B34">
                <a:alpha val="12000"/>
              </a:srgbClr>
            </a:outerShdw>
          </a:effectLst>
        </p:spPr>
      </p:sp>
      <p:pic>
        <p:nvPicPr>
          <p:cNvPr id="20" name="Image 2" descr="preencoded.png">    </p:cNvPr>
          <p:cNvPicPr>
            <a:picLocks noChangeAspect="1"/>
          </p:cNvPicPr>
          <p:nvPr/>
        </p:nvPicPr>
        <p:blipFill>
          <a:blip r:embed="rId3"/>
          <a:stretch>
            <a:fillRect/>
          </a:stretch>
        </p:blipFill>
        <p:spPr>
          <a:xfrm>
            <a:off x="5901538" y="2938882"/>
            <a:ext cx="175565" cy="175565"/>
          </a:xfrm>
          <a:prstGeom prst="rect">
            <a:avLst/>
          </a:prstGeom>
        </p:spPr>
      </p:pic>
      <p:sp>
        <p:nvSpPr>
          <p:cNvPr id="21" name="Text 16"/>
          <p:cNvSpPr/>
          <p:nvPr/>
        </p:nvSpPr>
        <p:spPr>
          <a:xfrm>
            <a:off x="6263640" y="2816352"/>
            <a:ext cx="5120640" cy="438912"/>
          </a:xfrm>
          <a:prstGeom prst="rect">
            <a:avLst/>
          </a:prstGeom>
          <a:noFill/>
          <a:ln/>
        </p:spPr>
        <p:txBody>
          <a:bodyPr wrap="square" lIns="0" tIns="0" rIns="0" bIns="0" rtlCol="0" anchor="ctr"/>
          <a:lstStyle/>
          <a:p>
            <a:pPr indent="0" marL="0">
              <a:buNone/>
            </a:pPr>
            <a:r>
              <a:rPr lang="en-US" sz="1200" b="1" dirty="0">
                <a:solidFill>
                  <a:srgbClr val="1A1B34"/>
                </a:solidFill>
                <a:latin typeface="Calibri" pitchFamily="34" charset="0"/>
                <a:ea typeface="Calibri" pitchFamily="34" charset="-122"/>
                <a:cs typeface="Calibri" pitchFamily="34" charset="-120"/>
              </a:rPr>
              <a:t>Yuki  </a:t>
            </a:r>
            <a:pPr indent="0" marL="0">
              <a:buNone/>
            </a:pPr>
            <a:r>
              <a:rPr lang="en-US" sz="1100" dirty="0">
                <a:solidFill>
                  <a:srgbClr val="4B4D6B"/>
                </a:solidFill>
                <a:latin typeface="Calibri" pitchFamily="34" charset="0"/>
                <a:ea typeface="Calibri" pitchFamily="34" charset="-122"/>
                <a:cs typeface="Calibri" pitchFamily="34" charset="-120"/>
              </a:rPr>
              <a:t>matches rule organization.plan = enterprise → new hero</a:t>
            </a:r>
            <a:endParaRPr lang="en-US" sz="1200" dirty="0"/>
          </a:p>
        </p:txBody>
      </p:sp>
      <p:sp>
        <p:nvSpPr>
          <p:cNvPr id="22" name="Shape 17"/>
          <p:cNvSpPr/>
          <p:nvPr/>
        </p:nvSpPr>
        <p:spPr>
          <a:xfrm>
            <a:off x="5806440" y="3346704"/>
            <a:ext cx="365760" cy="365760"/>
          </a:xfrm>
          <a:prstGeom prst="ellipse">
            <a:avLst/>
          </a:prstGeom>
          <a:solidFill>
            <a:srgbClr val="F0F1FB"/>
          </a:solidFill>
          <a:ln/>
          <a:effectLst>
            <a:outerShdw sx="100000" sy="100000" kx="0" ky="0" algn="bl" rotWithShape="0" blurRad="114300" dist="38100" dir="5400000">
              <a:srgbClr val="1A1B34">
                <a:alpha val="12000"/>
              </a:srgbClr>
            </a:outerShdw>
          </a:effectLst>
        </p:spPr>
      </p:sp>
      <p:pic>
        <p:nvPicPr>
          <p:cNvPr id="23" name="Image 3" descr="preencoded.png">    </p:cNvPr>
          <p:cNvPicPr>
            <a:picLocks noChangeAspect="1"/>
          </p:cNvPicPr>
          <p:nvPr/>
        </p:nvPicPr>
        <p:blipFill>
          <a:blip r:embed="rId4"/>
          <a:stretch>
            <a:fillRect/>
          </a:stretch>
        </p:blipFill>
        <p:spPr>
          <a:xfrm>
            <a:off x="5901538" y="3441802"/>
            <a:ext cx="175565" cy="175565"/>
          </a:xfrm>
          <a:prstGeom prst="rect">
            <a:avLst/>
          </a:prstGeom>
        </p:spPr>
      </p:pic>
      <p:sp>
        <p:nvSpPr>
          <p:cNvPr id="24" name="Text 18"/>
          <p:cNvSpPr/>
          <p:nvPr/>
        </p:nvSpPr>
        <p:spPr>
          <a:xfrm>
            <a:off x="6263640" y="3319272"/>
            <a:ext cx="5120640" cy="438912"/>
          </a:xfrm>
          <a:prstGeom prst="rect">
            <a:avLst/>
          </a:prstGeom>
          <a:noFill/>
          <a:ln/>
        </p:spPr>
        <p:txBody>
          <a:bodyPr wrap="square" lIns="0" tIns="0" rIns="0" bIns="0" rtlCol="0" anchor="ctr"/>
          <a:lstStyle/>
          <a:p>
            <a:pPr indent="0" marL="0">
              <a:buNone/>
            </a:pPr>
            <a:r>
              <a:rPr lang="en-US" sz="1200" b="1" dirty="0">
                <a:solidFill>
                  <a:srgbClr val="1A1B34"/>
                </a:solidFill>
                <a:latin typeface="Calibri" pitchFamily="34" charset="0"/>
                <a:ea typeface="Calibri" pitchFamily="34" charset="-122"/>
                <a:cs typeface="Calibri" pitchFamily="34" charset="-120"/>
              </a:rPr>
              <a:t>Sam / Diego  </a:t>
            </a:r>
            <a:pPr indent="0" marL="0">
              <a:buNone/>
            </a:pPr>
            <a:r>
              <a:rPr lang="en-US" sz="1100" dirty="0">
                <a:solidFill>
                  <a:srgbClr val="4B4D6B"/>
                </a:solidFill>
                <a:latin typeface="Calibri" pitchFamily="34" charset="0"/>
                <a:ea typeface="Calibri" pitchFamily="34" charset="-122"/>
                <a:cs typeface="Calibri" pitchFamily="34" charset="-120"/>
              </a:rPr>
              <a:t>not targeted → control (or the experiment split)</a:t>
            </a:r>
            <a:endParaRPr lang="en-US" sz="1200" dirty="0"/>
          </a:p>
        </p:txBody>
      </p:sp>
      <p:sp>
        <p:nvSpPr>
          <p:cNvPr id="25" name="Text 19"/>
          <p:cNvSpPr/>
          <p:nvPr/>
        </p:nvSpPr>
        <p:spPr>
          <a:xfrm>
            <a:off x="5532120" y="4114800"/>
            <a:ext cx="5486400" cy="27432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OBJECTIONS TO EXPECT</a:t>
            </a:r>
            <a:endParaRPr lang="en-US" sz="1100" dirty="0"/>
          </a:p>
        </p:txBody>
      </p:sp>
      <p:sp>
        <p:nvSpPr>
          <p:cNvPr id="26" name="Shape 20"/>
          <p:cNvSpPr/>
          <p:nvPr/>
        </p:nvSpPr>
        <p:spPr>
          <a:xfrm>
            <a:off x="5532120" y="4407408"/>
            <a:ext cx="2907792" cy="969264"/>
          </a:xfrm>
          <a:prstGeom prst="roundRect">
            <a:avLst>
              <a:gd name="adj" fmla="val 7547"/>
            </a:avLst>
          </a:prstGeom>
          <a:solidFill>
            <a:srgbClr val="EEF0FA"/>
          </a:solidFill>
          <a:ln w="12700">
            <a:solidFill>
              <a:srgbClr val="E4E6F0"/>
            </a:solidFill>
            <a:prstDash val="solid"/>
          </a:ln>
        </p:spPr>
      </p:sp>
      <p:sp>
        <p:nvSpPr>
          <p:cNvPr id="27" name="Text 21"/>
          <p:cNvSpPr/>
          <p:nvPr/>
        </p:nvSpPr>
        <p:spPr>
          <a:xfrm>
            <a:off x="5696712" y="4498848"/>
            <a:ext cx="2578608" cy="786384"/>
          </a:xfrm>
          <a:prstGeom prst="rect">
            <a:avLst/>
          </a:prstGeom>
          <a:noFill/>
          <a:ln/>
        </p:spPr>
        <p:txBody>
          <a:bodyPr wrap="square" rtlCol="0" anchor="t"/>
          <a:lstStyle/>
          <a:p>
            <a:pPr indent="0" marL="0">
              <a:lnSpc>
                <a:spcPct val="100000"/>
              </a:lnSpc>
              <a:buNone/>
            </a:pPr>
            <a:r>
              <a:rPr lang="en-US" sz="1050" b="1" dirty="0">
                <a:solidFill>
                  <a:srgbClr val="1A1B34"/>
                </a:solidFill>
                <a:latin typeface="Calibri" pitchFamily="34" charset="0"/>
                <a:ea typeface="Calibri" pitchFamily="34" charset="-122"/>
                <a:cs typeface="Calibri" pitchFamily="34" charset="-120"/>
              </a:rPr>
              <a:t>“At 40k/day, do flags add latency?”</a:t>
            </a:r>
            <a:endParaRPr lang="en-US" sz="1050" dirty="0"/>
          </a:p>
          <a:p>
            <a:pPr indent="0" marL="0">
              <a:lnSpc>
                <a:spcPct val="100000"/>
              </a:lnSpc>
              <a:buNone/>
            </a:pPr>
            <a:r>
              <a:rPr lang="en-US" sz="950" dirty="0">
                <a:solidFill>
                  <a:srgbClr val="44465F"/>
                </a:solidFill>
                <a:latin typeface="Calibri" pitchFamily="34" charset="0"/>
                <a:ea typeface="Calibri" pitchFamily="34" charset="-122"/>
                <a:cs typeface="Calibri" pitchFamily="34" charset="-120"/>
              </a:rPr>
              <a:t>No per-request call — SDK holds rules in memory, evaluates in microseconds.</a:t>
            </a:r>
            <a:endParaRPr lang="en-US" sz="1050" dirty="0"/>
          </a:p>
        </p:txBody>
      </p:sp>
      <p:sp>
        <p:nvSpPr>
          <p:cNvPr id="28" name="Shape 22"/>
          <p:cNvSpPr/>
          <p:nvPr/>
        </p:nvSpPr>
        <p:spPr>
          <a:xfrm>
            <a:off x="8613648" y="4407408"/>
            <a:ext cx="2907792" cy="969264"/>
          </a:xfrm>
          <a:prstGeom prst="roundRect">
            <a:avLst>
              <a:gd name="adj" fmla="val 7547"/>
            </a:avLst>
          </a:prstGeom>
          <a:solidFill>
            <a:srgbClr val="EEF0FA"/>
          </a:solidFill>
          <a:ln w="12700">
            <a:solidFill>
              <a:srgbClr val="E4E6F0"/>
            </a:solidFill>
            <a:prstDash val="solid"/>
          </a:ln>
        </p:spPr>
      </p:sp>
      <p:sp>
        <p:nvSpPr>
          <p:cNvPr id="29" name="Text 23"/>
          <p:cNvSpPr/>
          <p:nvPr/>
        </p:nvSpPr>
        <p:spPr>
          <a:xfrm>
            <a:off x="8778240" y="4498848"/>
            <a:ext cx="2578608" cy="786384"/>
          </a:xfrm>
          <a:prstGeom prst="rect">
            <a:avLst/>
          </a:prstGeom>
          <a:noFill/>
          <a:ln/>
        </p:spPr>
        <p:txBody>
          <a:bodyPr wrap="square" rtlCol="0" anchor="t"/>
          <a:lstStyle/>
          <a:p>
            <a:pPr indent="0" marL="0">
              <a:lnSpc>
                <a:spcPct val="100000"/>
              </a:lnSpc>
              <a:buNone/>
            </a:pPr>
            <a:r>
              <a:rPr lang="en-US" sz="1050" b="1" dirty="0">
                <a:solidFill>
                  <a:srgbClr val="1A1B34"/>
                </a:solidFill>
                <a:latin typeface="Calibri" pitchFamily="34" charset="0"/>
                <a:ea typeface="Calibri" pitchFamily="34" charset="-122"/>
                <a:cs typeface="Calibri" pitchFamily="34" charset="-120"/>
              </a:rPr>
              <a:t>“We'd send user PII to a vendor.”</a:t>
            </a:r>
            <a:endParaRPr lang="en-US" sz="1050" dirty="0"/>
          </a:p>
          <a:p>
            <a:pPr indent="0" marL="0">
              <a:lnSpc>
                <a:spcPct val="100000"/>
              </a:lnSpc>
              <a:buNone/>
            </a:pPr>
            <a:r>
              <a:rPr lang="en-US" sz="950" dirty="0">
                <a:solidFill>
                  <a:srgbClr val="44465F"/>
                </a:solidFill>
                <a:latin typeface="Calibri" pitchFamily="34" charset="0"/>
                <a:ea typeface="Calibri" pitchFamily="34" charset="-122"/>
                <a:cs typeface="Calibri" pitchFamily="34" charset="-120"/>
              </a:rPr>
              <a:t>Anonymous contexts + private attributes never sent/stored; eval is local.</a:t>
            </a:r>
            <a:endParaRPr lang="en-US" sz="1050" dirty="0"/>
          </a:p>
        </p:txBody>
      </p:sp>
      <p:sp>
        <p:nvSpPr>
          <p:cNvPr id="30" name="Shape 24"/>
          <p:cNvSpPr/>
          <p:nvPr/>
        </p:nvSpPr>
        <p:spPr>
          <a:xfrm>
            <a:off x="5532120" y="5468112"/>
            <a:ext cx="2907792" cy="969264"/>
          </a:xfrm>
          <a:prstGeom prst="roundRect">
            <a:avLst>
              <a:gd name="adj" fmla="val 7547"/>
            </a:avLst>
          </a:prstGeom>
          <a:solidFill>
            <a:srgbClr val="EEF0FA"/>
          </a:solidFill>
          <a:ln w="12700">
            <a:solidFill>
              <a:srgbClr val="E4E6F0"/>
            </a:solidFill>
            <a:prstDash val="solid"/>
          </a:ln>
        </p:spPr>
      </p:sp>
      <p:sp>
        <p:nvSpPr>
          <p:cNvPr id="31" name="Text 25"/>
          <p:cNvSpPr/>
          <p:nvPr/>
        </p:nvSpPr>
        <p:spPr>
          <a:xfrm>
            <a:off x="5696712" y="5559552"/>
            <a:ext cx="2578608" cy="786384"/>
          </a:xfrm>
          <a:prstGeom prst="rect">
            <a:avLst/>
          </a:prstGeom>
          <a:noFill/>
          <a:ln/>
        </p:spPr>
        <p:txBody>
          <a:bodyPr wrap="square" rtlCol="0" anchor="t"/>
          <a:lstStyle/>
          <a:p>
            <a:pPr indent="0" marL="0">
              <a:lnSpc>
                <a:spcPct val="100000"/>
              </a:lnSpc>
              <a:buNone/>
            </a:pPr>
            <a:r>
              <a:rPr lang="en-US" sz="1050" b="1" dirty="0">
                <a:solidFill>
                  <a:srgbClr val="1A1B34"/>
                </a:solidFill>
                <a:latin typeface="Calibri" pitchFamily="34" charset="0"/>
                <a:ea typeface="Calibri" pitchFamily="34" charset="-122"/>
                <a:cs typeface="Calibri" pitchFamily="34" charset="-120"/>
              </a:rPr>
              <a:t>“Our segmentation lives in our warehouse.”</a:t>
            </a:r>
            <a:endParaRPr lang="en-US" sz="1050" dirty="0"/>
          </a:p>
          <a:p>
            <a:pPr indent="0" marL="0">
              <a:lnSpc>
                <a:spcPct val="100000"/>
              </a:lnSpc>
              <a:buNone/>
            </a:pPr>
            <a:r>
              <a:rPr lang="en-US" sz="950" dirty="0">
                <a:solidFill>
                  <a:srgbClr val="44465F"/>
                </a:solidFill>
                <a:latin typeface="Calibri" pitchFamily="34" charset="0"/>
                <a:ea typeface="Calibri" pitchFamily="34" charset="-122"/>
                <a:cs typeface="Calibri" pitchFamily="34" charset="-120"/>
              </a:rPr>
              <a:t>Segments / Big Segments / sync from your CDP or data warehouse.</a:t>
            </a:r>
            <a:endParaRPr lang="en-US" sz="1050" dirty="0"/>
          </a:p>
        </p:txBody>
      </p:sp>
      <p:sp>
        <p:nvSpPr>
          <p:cNvPr id="32" name="Shape 26"/>
          <p:cNvSpPr/>
          <p:nvPr/>
        </p:nvSpPr>
        <p:spPr>
          <a:xfrm>
            <a:off x="8613648" y="5468112"/>
            <a:ext cx="2907792" cy="969264"/>
          </a:xfrm>
          <a:prstGeom prst="roundRect">
            <a:avLst>
              <a:gd name="adj" fmla="val 7547"/>
            </a:avLst>
          </a:prstGeom>
          <a:solidFill>
            <a:srgbClr val="EEF0FA"/>
          </a:solidFill>
          <a:ln w="12700">
            <a:solidFill>
              <a:srgbClr val="E4E6F0"/>
            </a:solidFill>
            <a:prstDash val="solid"/>
          </a:ln>
        </p:spPr>
      </p:sp>
      <p:sp>
        <p:nvSpPr>
          <p:cNvPr id="33" name="Text 27"/>
          <p:cNvSpPr/>
          <p:nvPr/>
        </p:nvSpPr>
        <p:spPr>
          <a:xfrm>
            <a:off x="8778240" y="5559552"/>
            <a:ext cx="2578608" cy="786384"/>
          </a:xfrm>
          <a:prstGeom prst="rect">
            <a:avLst/>
          </a:prstGeom>
          <a:noFill/>
          <a:ln/>
        </p:spPr>
        <p:txBody>
          <a:bodyPr wrap="square" rtlCol="0" anchor="t"/>
          <a:lstStyle/>
          <a:p>
            <a:pPr indent="0" marL="0">
              <a:lnSpc>
                <a:spcPct val="100000"/>
              </a:lnSpc>
              <a:buNone/>
            </a:pPr>
            <a:r>
              <a:rPr lang="en-US" sz="1050" b="1" dirty="0">
                <a:solidFill>
                  <a:srgbClr val="1A1B34"/>
                </a:solidFill>
                <a:latin typeface="Calibri" pitchFamily="34" charset="0"/>
                <a:ea typeface="Calibri" pitchFamily="34" charset="-122"/>
                <a:cs typeface="Calibri" pitchFamily="34" charset="-120"/>
              </a:rPr>
              <a:t>“Who owns changes — and mistakes?”</a:t>
            </a:r>
            <a:endParaRPr lang="en-US" sz="1050" dirty="0"/>
          </a:p>
          <a:p>
            <a:pPr indent="0" marL="0">
              <a:lnSpc>
                <a:spcPct val="100000"/>
              </a:lnSpc>
              <a:buNone/>
            </a:pPr>
            <a:r>
              <a:rPr lang="en-US" sz="950" dirty="0">
                <a:solidFill>
                  <a:srgbClr val="44465F"/>
                </a:solidFill>
                <a:latin typeface="Calibri" pitchFamily="34" charset="0"/>
                <a:ea typeface="Calibri" pitchFamily="34" charset="-122"/>
                <a:cs typeface="Calibri" pitchFamily="34" charset="-120"/>
              </a:rPr>
              <a:t>No-code UI + RBAC + approvals; a wrong rule is one click to revert.</a:t>
            </a:r>
            <a:endParaRPr lang="en-US" sz="1050" dirty="0"/>
          </a:p>
        </p:txBody>
      </p:sp>
      <p:sp>
        <p:nvSpPr>
          <p:cNvPr id="34" name="Text 28"/>
          <p:cNvSpPr/>
          <p:nvPr/>
        </p:nvSpPr>
        <p:spPr>
          <a:xfrm>
            <a:off x="640080" y="6473952"/>
            <a:ext cx="7315200" cy="274320"/>
          </a:xfrm>
          <a:prstGeom prst="rect">
            <a:avLst/>
          </a:prstGeom>
          <a:noFill/>
          <a:ln/>
        </p:spPr>
        <p:txBody>
          <a:bodyPr wrap="square" lIns="0" tIns="0" rIns="0" bIns="0" rtlCol="0" anchor="ctr"/>
          <a:lstStyle/>
          <a:p>
            <a:pPr indent="0" marL="0">
              <a:buNone/>
            </a:pPr>
            <a:r>
              <a:rPr lang="en-US" sz="850" dirty="0">
                <a:solidFill>
                  <a:srgbClr val="AEB2C7"/>
                </a:solidFill>
                <a:latin typeface="Calibri" pitchFamily="34" charset="0"/>
                <a:ea typeface="Calibri" pitchFamily="34" charset="-122"/>
                <a:cs typeface="Calibri" pitchFamily="34" charset="-120"/>
              </a:rPr>
              <a:t>LaunchDarkly · Solution Overview for ABC Company</a:t>
            </a:r>
            <a:endParaRPr lang="en-US" sz="850" dirty="0"/>
          </a:p>
        </p:txBody>
      </p:sp>
      <p:sp>
        <p:nvSpPr>
          <p:cNvPr id="35" name="Text 29"/>
          <p:cNvSpPr/>
          <p:nvPr/>
        </p:nvSpPr>
        <p:spPr>
          <a:xfrm>
            <a:off x="11274552" y="6473952"/>
            <a:ext cx="365760" cy="274320"/>
          </a:xfrm>
          <a:prstGeom prst="rect">
            <a:avLst/>
          </a:prstGeom>
          <a:noFill/>
          <a:ln/>
        </p:spPr>
        <p:txBody>
          <a:bodyPr wrap="square" lIns="0" tIns="0" rIns="0" bIns="0" rtlCol="0" anchor="ctr"/>
          <a:lstStyle/>
          <a:p>
            <a:pPr algn="r" indent="0" marL="0">
              <a:buNone/>
            </a:pPr>
            <a:r>
              <a:rPr lang="en-US" sz="850" dirty="0">
                <a:solidFill>
                  <a:srgbClr val="AEB2C7"/>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C"/>
        </a:solidFill>
      </p:bgPr>
    </p:bg>
    <p:spTree>
      <p:nvGrpSpPr>
        <p:cNvPr id="1" name=""/>
        <p:cNvGrpSpPr/>
        <p:nvPr/>
      </p:nvGrpSpPr>
      <p:grpSpPr>
        <a:xfrm>
          <a:off x="0" y="0"/>
          <a:ext cx="0" cy="0"/>
          <a:chOff x="0" y="0"/>
          <a:chExt cx="0" cy="0"/>
        </a:xfrm>
      </p:grpSpPr>
      <p:sp>
        <p:nvSpPr>
          <p:cNvPr id="2" name="Shape 0"/>
          <p:cNvSpPr/>
          <p:nvPr/>
        </p:nvSpPr>
        <p:spPr>
          <a:xfrm>
            <a:off x="640080" y="457200"/>
            <a:ext cx="777240" cy="777240"/>
          </a:xfrm>
          <a:prstGeom prst="ellipse">
            <a:avLst/>
          </a:prstGeom>
          <a:solidFill>
            <a:srgbClr val="1B1E4B"/>
          </a:solidFill>
          <a:ln/>
          <a:effectLst>
            <a:outerShdw sx="100000" sy="100000" kx="0" ky="0" algn="bl" rotWithShape="0" blurRad="114300" dist="38100" dir="5400000">
              <a:srgbClr val="1A1B34">
                <a:alpha val="12000"/>
              </a:srgbClr>
            </a:outerShdw>
          </a:effectLst>
        </p:spPr>
      </p:sp>
      <p:pic>
        <p:nvPicPr>
          <p:cNvPr id="3" name="Image 0" descr="preencoded.png">    </p:cNvPr>
          <p:cNvPicPr>
            <a:picLocks noChangeAspect="1"/>
          </p:cNvPicPr>
          <p:nvPr/>
        </p:nvPicPr>
        <p:blipFill>
          <a:blip r:embed="rId1"/>
          <a:stretch>
            <a:fillRect/>
          </a:stretch>
        </p:blipFill>
        <p:spPr>
          <a:xfrm>
            <a:off x="842162" y="659282"/>
            <a:ext cx="373075" cy="373075"/>
          </a:xfrm>
          <a:prstGeom prst="rect">
            <a:avLst/>
          </a:prstGeom>
        </p:spPr>
      </p:pic>
      <p:sp>
        <p:nvSpPr>
          <p:cNvPr id="4" name="Text 1"/>
          <p:cNvSpPr/>
          <p:nvPr/>
        </p:nvSpPr>
        <p:spPr>
          <a:xfrm>
            <a:off x="1600200" y="457200"/>
            <a:ext cx="9144000" cy="274320"/>
          </a:xfrm>
          <a:prstGeom prst="rect">
            <a:avLst/>
          </a:prstGeom>
          <a:noFill/>
          <a:ln/>
        </p:spPr>
        <p:txBody>
          <a:bodyPr wrap="square" lIns="0" tIns="0" rIns="0" bIns="0" rtlCol="0" anchor="ctr"/>
          <a:lstStyle/>
          <a:p>
            <a:pPr indent="0" marL="0">
              <a:buNone/>
            </a:pPr>
            <a:r>
              <a:rPr lang="en-US" sz="1200" b="1" spc="250" kern="0" dirty="0">
                <a:solidFill>
                  <a:srgbClr val="3DD6F5"/>
                </a:solidFill>
                <a:latin typeface="Calibri" pitchFamily="34" charset="0"/>
                <a:ea typeface="Calibri" pitchFamily="34" charset="-122"/>
                <a:cs typeface="Calibri" pitchFamily="34" charset="-120"/>
              </a:rPr>
              <a:t>EXTRA CREDIT</a:t>
            </a:r>
            <a:endParaRPr lang="en-US" sz="1200" dirty="0"/>
          </a:p>
        </p:txBody>
      </p:sp>
      <p:sp>
        <p:nvSpPr>
          <p:cNvPr id="5" name="Text 2"/>
          <p:cNvSpPr/>
          <p:nvPr/>
        </p:nvSpPr>
        <p:spPr>
          <a:xfrm>
            <a:off x="1572768" y="713232"/>
            <a:ext cx="10058400" cy="566928"/>
          </a:xfrm>
          <a:prstGeom prst="rect">
            <a:avLst/>
          </a:prstGeom>
          <a:noFill/>
          <a:ln/>
        </p:spPr>
        <p:txBody>
          <a:bodyPr wrap="square" lIns="0" tIns="0" rIns="0" bIns="0" rtlCol="0" anchor="ctr"/>
          <a:lstStyle/>
          <a:p>
            <a:pPr indent="0" marL="0">
              <a:buNone/>
            </a:pPr>
            <a:r>
              <a:rPr lang="en-US" sz="2800" b="1" dirty="0">
                <a:solidFill>
                  <a:srgbClr val="1A1B34"/>
                </a:solidFill>
                <a:latin typeface="Bookman Old Style" pitchFamily="34" charset="0"/>
                <a:ea typeface="Bookman Old Style" pitchFamily="34" charset="-122"/>
                <a:cs typeface="Bookman Old Style" pitchFamily="34" charset="-120"/>
              </a:rPr>
              <a:t>Experimentation</a:t>
            </a:r>
            <a:endParaRPr lang="en-US" sz="2800" dirty="0"/>
          </a:p>
        </p:txBody>
      </p:sp>
      <p:sp>
        <p:nvSpPr>
          <p:cNvPr id="6" name="Text 3"/>
          <p:cNvSpPr/>
          <p:nvPr/>
        </p:nvSpPr>
        <p:spPr>
          <a:xfrm>
            <a:off x="1600200" y="1298448"/>
            <a:ext cx="10241280" cy="365760"/>
          </a:xfrm>
          <a:prstGeom prst="rect">
            <a:avLst/>
          </a:prstGeom>
          <a:noFill/>
          <a:ln/>
        </p:spPr>
        <p:txBody>
          <a:bodyPr wrap="square" lIns="0" tIns="0" rIns="0" bIns="0" rtlCol="0" anchor="ctr"/>
          <a:lstStyle/>
          <a:p>
            <a:pPr indent="0" marL="0">
              <a:buNone/>
            </a:pPr>
            <a:r>
              <a:rPr lang="en-US" sz="1400" i="1" dirty="0">
                <a:solidFill>
                  <a:srgbClr val="4B4D6B"/>
                </a:solidFill>
                <a:latin typeface="Calibri" pitchFamily="34" charset="0"/>
                <a:ea typeface="Calibri" pitchFamily="34" charset="-122"/>
                <a:cs typeface="Calibri" pitchFamily="34" charset="-120"/>
              </a:rPr>
              <a:t>The flag you release with is the flag you measure with.</a:t>
            </a:r>
            <a:endParaRPr lang="en-US" sz="1400" dirty="0"/>
          </a:p>
        </p:txBody>
      </p:sp>
      <p:sp>
        <p:nvSpPr>
          <p:cNvPr id="7" name="Text 4"/>
          <p:cNvSpPr/>
          <p:nvPr/>
        </p:nvSpPr>
        <p:spPr>
          <a:xfrm>
            <a:off x="640080" y="1874520"/>
            <a:ext cx="4480560" cy="256032"/>
          </a:xfrm>
          <a:prstGeom prst="rect">
            <a:avLst/>
          </a:prstGeom>
          <a:noFill/>
          <a:ln/>
        </p:spPr>
        <p:txBody>
          <a:bodyPr wrap="square" lIns="0" tIns="0" rIns="0" bIns="0" rtlCol="0" anchor="ctr"/>
          <a:lstStyle/>
          <a:p>
            <a:pPr indent="0" marL="0">
              <a:buNone/>
            </a:pPr>
            <a:r>
              <a:rPr lang="en-US" sz="1100" b="1" spc="200" kern="0" dirty="0">
                <a:solidFill>
                  <a:srgbClr val="6B7280"/>
                </a:solidFill>
                <a:latin typeface="Calibri" pitchFamily="34" charset="0"/>
                <a:ea typeface="Calibri" pitchFamily="34" charset="-122"/>
                <a:cs typeface="Calibri" pitchFamily="34" charset="-120"/>
              </a:rPr>
              <a:t>VALUE</a:t>
            </a:r>
            <a:endParaRPr lang="en-US" sz="1100" dirty="0"/>
          </a:p>
        </p:txBody>
      </p:sp>
      <p:sp>
        <p:nvSpPr>
          <p:cNvPr id="8" name="Text 5"/>
          <p:cNvSpPr/>
          <p:nvPr/>
        </p:nvSpPr>
        <p:spPr>
          <a:xfrm>
            <a:off x="640080" y="2167128"/>
            <a:ext cx="4480560" cy="20116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2C2E4A"/>
                </a:solidFill>
                <a:latin typeface="Calibri" pitchFamily="34" charset="0"/>
                <a:ea typeface="Calibri" pitchFamily="34" charset="-122"/>
                <a:cs typeface="Calibri" pitchFamily="34" charset="-120"/>
              </a:rPr>
              <a:t>No second SDK, no duplicate instrumentation — the flag IS the experiment.</a:t>
            </a:r>
            <a:endParaRPr lang="en-US" sz="1250" dirty="0"/>
          </a:p>
          <a:p>
            <a:pPr marL="177800" indent="-177800">
              <a:spcAft>
                <a:spcPts val="700"/>
              </a:spcAft>
              <a:buSzPct val="100000"/>
              <a:buChar char="•"/>
            </a:pPr>
            <a:r>
              <a:rPr lang="en-US" sz="1250" dirty="0">
                <a:solidFill>
                  <a:srgbClr val="2C2E4A"/>
                </a:solidFill>
                <a:latin typeface="Calibri" pitchFamily="34" charset="0"/>
                <a:ea typeface="Calibri" pitchFamily="34" charset="-122"/>
                <a:cs typeface="Calibri" pitchFamily="34" charset="-120"/>
              </a:rPr>
              <a:t>Tie variations to real business metrics: conversion, revenue, retention.</a:t>
            </a:r>
            <a:endParaRPr lang="en-US" sz="1250" dirty="0"/>
          </a:p>
          <a:p>
            <a:pPr marL="177800" indent="-177800">
              <a:spcAft>
                <a:spcPts val="700"/>
              </a:spcAft>
              <a:buSzPct val="100000"/>
              <a:buChar char="•"/>
            </a:pPr>
            <a:r>
              <a:rPr lang="en-US" sz="1250" dirty="0">
                <a:solidFill>
                  <a:srgbClr val="2C2E4A"/>
                </a:solidFill>
                <a:latin typeface="Calibri" pitchFamily="34" charset="0"/>
                <a:ea typeface="Calibri" pitchFamily="34" charset="-122"/>
                <a:cs typeface="Calibri" pitchFamily="34" charset="-120"/>
              </a:rPr>
              <a:t>PMs self-serve tests without pulling engineers onto every one.</a:t>
            </a:r>
            <a:endParaRPr lang="en-US" sz="1250" dirty="0"/>
          </a:p>
          <a:p>
            <a:pPr marL="177800" indent="-177800">
              <a:spcAft>
                <a:spcPts val="700"/>
              </a:spcAft>
              <a:buSzPct val="100000"/>
              <a:buChar char="•"/>
            </a:pPr>
            <a:r>
              <a:rPr lang="en-US" sz="1250" dirty="0">
                <a:solidFill>
                  <a:srgbClr val="2C2E4A"/>
                </a:solidFill>
                <a:latin typeface="Calibri" pitchFamily="34" charset="0"/>
                <a:ea typeface="Calibri" pitchFamily="34" charset="-122"/>
                <a:cs typeface="Calibri" pitchFamily="34" charset="-120"/>
              </a:rPr>
              <a:t>When B wins, roll it to 100% with the flag you already ship.</a:t>
            </a:r>
            <a:endParaRPr lang="en-US" sz="1250" dirty="0"/>
          </a:p>
        </p:txBody>
      </p:sp>
      <p:sp>
        <p:nvSpPr>
          <p:cNvPr id="9" name="Shape 6"/>
          <p:cNvSpPr/>
          <p:nvPr/>
        </p:nvSpPr>
        <p:spPr>
          <a:xfrm>
            <a:off x="640080" y="4160520"/>
            <a:ext cx="4480560" cy="1874520"/>
          </a:xfrm>
          <a:prstGeom prst="roundRect">
            <a:avLst>
              <a:gd name="adj" fmla="val 3902"/>
            </a:avLst>
          </a:prstGeom>
          <a:solidFill>
            <a:srgbClr val="0E1030"/>
          </a:solidFill>
          <a:ln/>
          <a:effectLst>
            <a:outerShdw sx="100000" sy="100000" kx="0" ky="0" algn="bl" rotWithShape="0" blurRad="114300" dist="38100" dir="5400000">
              <a:srgbClr val="1A1B34">
                <a:alpha val="12000"/>
              </a:srgbClr>
            </a:outerShdw>
          </a:effectLst>
        </p:spPr>
      </p:sp>
      <p:sp>
        <p:nvSpPr>
          <p:cNvPr id="10" name="Text 7"/>
          <p:cNvSpPr/>
          <p:nvPr/>
        </p:nvSpPr>
        <p:spPr>
          <a:xfrm>
            <a:off x="841248" y="4306824"/>
            <a:ext cx="4078224" cy="274320"/>
          </a:xfrm>
          <a:prstGeom prst="rect">
            <a:avLst/>
          </a:prstGeom>
          <a:noFill/>
          <a:ln/>
        </p:spPr>
        <p:txBody>
          <a:bodyPr wrap="square" lIns="0" tIns="0" rIns="0" bIns="0" rtlCol="0" anchor="ctr"/>
          <a:lstStyle/>
          <a:p>
            <a:pPr indent="0" marL="0">
              <a:buNone/>
            </a:pPr>
            <a:r>
              <a:rPr lang="en-US" sz="1050" b="1" spc="150" kern="0" dirty="0">
                <a:solidFill>
                  <a:srgbClr val="3DD6F5"/>
                </a:solidFill>
                <a:latin typeface="Calibri" pitchFamily="34" charset="0"/>
                <a:ea typeface="Calibri" pitchFamily="34" charset="-122"/>
                <a:cs typeface="Calibri" pitchFamily="34" charset="-120"/>
              </a:rPr>
              <a:t>WHAT WE SHOW IN THE APP</a:t>
            </a:r>
            <a:endParaRPr lang="en-US" sz="1050" dirty="0"/>
          </a:p>
        </p:txBody>
      </p:sp>
      <p:sp>
        <p:nvSpPr>
          <p:cNvPr id="11" name="Text 8"/>
          <p:cNvSpPr/>
          <p:nvPr/>
        </p:nvSpPr>
        <p:spPr>
          <a:xfrm>
            <a:off x="896112" y="4636008"/>
            <a:ext cx="4023360" cy="1234440"/>
          </a:xfrm>
          <a:prstGeom prst="rect">
            <a:avLst/>
          </a:prstGeom>
          <a:noFill/>
          <a:ln/>
        </p:spPr>
        <p:txBody>
          <a:bodyPr wrap="square" lIns="0" tIns="0" rIns="0" bIns="0" rtlCol="0" anchor="t"/>
          <a:lstStyle/>
          <a:p>
            <a:pPr marL="203200" indent="-203200">
              <a:spcAft>
                <a:spcPts val="600"/>
              </a:spcAft>
              <a:buSzPct val="100000"/>
              <a:buFont typeface="+mj-lt"/>
              <a:buAutoNum type="arabicPeriod" startAt="1"/>
            </a:pPr>
            <a:r>
              <a:rPr lang="en-US" sz="1150" dirty="0">
                <a:solidFill>
                  <a:srgbClr val="E7E9FA"/>
                </a:solidFill>
                <a:latin typeface="Calibri" pitchFamily="34" charset="0"/>
                <a:ea typeface="Calibri" pitchFamily="34" charset="-122"/>
                <a:cs typeface="Calibri" pitchFamily="34" charset="-120"/>
              </a:rPr>
              <a:t>npm run experiment → 50/50 on new-landing-hero, metric hero-cta-click.</a:t>
            </a:r>
            <a:endParaRPr lang="en-US" sz="1150" dirty="0"/>
          </a:p>
          <a:p>
            <a:pPr marL="203200" indent="-203200">
              <a:spcAft>
                <a:spcPts val="600"/>
              </a:spcAft>
              <a:buSzPct val="100000"/>
              <a:buFont typeface="+mj-lt"/>
              <a:buAutoNum type="arabicPeriod" startAt="1"/>
            </a:pPr>
            <a:r>
              <a:rPr lang="en-US" sz="1150" dirty="0">
                <a:solidFill>
                  <a:srgbClr val="E7E9FA"/>
                </a:solidFill>
                <a:latin typeface="Calibri" pitchFamily="34" charset="0"/>
                <a:ea typeface="Calibri" pitchFamily="34" charset="-122"/>
                <a:cs typeface="Calibri" pitchFamily="34" charset="-120"/>
              </a:rPr>
              <a:t>npm run traffic 5000 → watch the lift populate under Experiments.</a:t>
            </a:r>
            <a:endParaRPr lang="en-US" sz="1150" dirty="0"/>
          </a:p>
        </p:txBody>
      </p:sp>
      <p:sp>
        <p:nvSpPr>
          <p:cNvPr id="12" name="Shape 9"/>
          <p:cNvSpPr/>
          <p:nvPr/>
        </p:nvSpPr>
        <p:spPr>
          <a:xfrm>
            <a:off x="5440680" y="1874520"/>
            <a:ext cx="3063240" cy="2487168"/>
          </a:xfrm>
          <a:prstGeom prst="roundRect">
            <a:avLst>
              <a:gd name="adj" fmla="val 3309"/>
            </a:avLst>
          </a:prstGeom>
          <a:solidFill>
            <a:srgbClr val="FFFFFF"/>
          </a:solidFill>
          <a:ln w="12700">
            <a:solidFill>
              <a:srgbClr val="E4E6F0"/>
            </a:solidFill>
            <a:prstDash val="solid"/>
          </a:ln>
          <a:effectLst>
            <a:outerShdw sx="100000" sy="100000" kx="0" ky="0" algn="bl" rotWithShape="0" blurRad="114300" dist="38100" dir="5400000">
              <a:srgbClr val="1A1B34">
                <a:alpha val="12000"/>
              </a:srgbClr>
            </a:outerShdw>
          </a:effectLst>
        </p:spPr>
      </p:sp>
      <p:sp>
        <p:nvSpPr>
          <p:cNvPr id="13" name="Text 10"/>
          <p:cNvSpPr/>
          <p:nvPr/>
        </p:nvSpPr>
        <p:spPr>
          <a:xfrm>
            <a:off x="5623560" y="1993392"/>
            <a:ext cx="2743200" cy="274320"/>
          </a:xfrm>
          <a:prstGeom prst="rect">
            <a:avLst/>
          </a:prstGeom>
          <a:noFill/>
          <a:ln/>
        </p:spPr>
        <p:txBody>
          <a:bodyPr wrap="square" lIns="0" tIns="0" rIns="0" bIns="0" rtlCol="0" anchor="ctr"/>
          <a:lstStyle/>
          <a:p>
            <a:pPr indent="0" marL="0">
              <a:buNone/>
            </a:pPr>
            <a:r>
              <a:rPr lang="en-US" sz="950" b="1" spc="100" kern="0" dirty="0">
                <a:solidFill>
                  <a:srgbClr val="6B7280"/>
                </a:solidFill>
                <a:latin typeface="Calibri" pitchFamily="34" charset="0"/>
                <a:ea typeface="Calibri" pitchFamily="34" charset="-122"/>
                <a:cs typeface="Calibri" pitchFamily="34" charset="-120"/>
              </a:rPr>
              <a:t>CTA CLICK-THROUGH (illustrative)</a:t>
            </a:r>
            <a:endParaRPr lang="en-US" sz="950" dirty="0"/>
          </a:p>
        </p:txBody>
      </p:sp>
      <p:sp>
        <p:nvSpPr>
          <p:cNvPr id="14" name="Shape 11"/>
          <p:cNvSpPr/>
          <p:nvPr/>
        </p:nvSpPr>
        <p:spPr>
          <a:xfrm>
            <a:off x="5806440" y="4096512"/>
            <a:ext cx="2377440" cy="0"/>
          </a:xfrm>
          <a:prstGeom prst="line">
            <a:avLst/>
          </a:prstGeom>
          <a:noFill/>
          <a:ln w="12700">
            <a:solidFill>
              <a:srgbClr val="D8DBEA"/>
            </a:solidFill>
            <a:prstDash val="solid"/>
          </a:ln>
        </p:spPr>
      </p:sp>
      <p:sp>
        <p:nvSpPr>
          <p:cNvPr id="15" name="Shape 12"/>
          <p:cNvSpPr/>
          <p:nvPr/>
        </p:nvSpPr>
        <p:spPr>
          <a:xfrm>
            <a:off x="6053328" y="2991917"/>
            <a:ext cx="658368" cy="1104595"/>
          </a:xfrm>
          <a:prstGeom prst="rect">
            <a:avLst/>
          </a:prstGeom>
          <a:solidFill>
            <a:srgbClr val="9AA0C0"/>
          </a:solidFill>
          <a:ln/>
        </p:spPr>
      </p:sp>
      <p:sp>
        <p:nvSpPr>
          <p:cNvPr id="16" name="Text 13"/>
          <p:cNvSpPr/>
          <p:nvPr/>
        </p:nvSpPr>
        <p:spPr>
          <a:xfrm>
            <a:off x="5833872" y="2681021"/>
            <a:ext cx="1097280" cy="274320"/>
          </a:xfrm>
          <a:prstGeom prst="rect">
            <a:avLst/>
          </a:prstGeom>
          <a:noFill/>
          <a:ln/>
        </p:spPr>
        <p:txBody>
          <a:bodyPr wrap="square" lIns="0" tIns="0" rIns="0" bIns="0" rtlCol="0" anchor="ctr"/>
          <a:lstStyle/>
          <a:p>
            <a:pPr algn="ctr" indent="0" marL="0">
              <a:buNone/>
            </a:pPr>
            <a:r>
              <a:rPr lang="en-US" sz="1300" b="1" dirty="0">
                <a:solidFill>
                  <a:srgbClr val="1A1B34"/>
                </a:solidFill>
                <a:latin typeface="Bookman Old Style" pitchFamily="34" charset="0"/>
                <a:ea typeface="Bookman Old Style" pitchFamily="34" charset="-122"/>
                <a:cs typeface="Bookman Old Style" pitchFamily="34" charset="-120"/>
              </a:rPr>
              <a:t>4.0%</a:t>
            </a:r>
            <a:endParaRPr lang="en-US" sz="1300" dirty="0"/>
          </a:p>
        </p:txBody>
      </p:sp>
      <p:sp>
        <p:nvSpPr>
          <p:cNvPr id="17" name="Text 14"/>
          <p:cNvSpPr/>
          <p:nvPr/>
        </p:nvSpPr>
        <p:spPr>
          <a:xfrm>
            <a:off x="5833872" y="4142232"/>
            <a:ext cx="1097280"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Control</a:t>
            </a:r>
            <a:endParaRPr lang="en-US" sz="1000" dirty="0"/>
          </a:p>
        </p:txBody>
      </p:sp>
      <p:sp>
        <p:nvSpPr>
          <p:cNvPr id="18" name="Shape 15"/>
          <p:cNvSpPr/>
          <p:nvPr/>
        </p:nvSpPr>
        <p:spPr>
          <a:xfrm>
            <a:off x="7479792" y="2770998"/>
            <a:ext cx="658368" cy="1325514"/>
          </a:xfrm>
          <a:prstGeom prst="rect">
            <a:avLst/>
          </a:prstGeom>
          <a:solidFill>
            <a:srgbClr val="3DD6F5"/>
          </a:solidFill>
          <a:ln/>
        </p:spPr>
      </p:sp>
      <p:sp>
        <p:nvSpPr>
          <p:cNvPr id="19" name="Text 16"/>
          <p:cNvSpPr/>
          <p:nvPr/>
        </p:nvSpPr>
        <p:spPr>
          <a:xfrm>
            <a:off x="7260336" y="2460102"/>
            <a:ext cx="1097280" cy="274320"/>
          </a:xfrm>
          <a:prstGeom prst="rect">
            <a:avLst/>
          </a:prstGeom>
          <a:noFill/>
          <a:ln/>
        </p:spPr>
        <p:txBody>
          <a:bodyPr wrap="square" lIns="0" tIns="0" rIns="0" bIns="0" rtlCol="0" anchor="ctr"/>
          <a:lstStyle/>
          <a:p>
            <a:pPr algn="ctr" indent="0" marL="0">
              <a:buNone/>
            </a:pPr>
            <a:r>
              <a:rPr lang="en-US" sz="1300" b="1" dirty="0">
                <a:solidFill>
                  <a:srgbClr val="1A1B34"/>
                </a:solidFill>
                <a:latin typeface="Bookman Old Style" pitchFamily="34" charset="0"/>
                <a:ea typeface="Bookman Old Style" pitchFamily="34" charset="-122"/>
                <a:cs typeface="Bookman Old Style" pitchFamily="34" charset="-120"/>
              </a:rPr>
              <a:t>4.8%</a:t>
            </a:r>
            <a:endParaRPr lang="en-US" sz="1300" dirty="0"/>
          </a:p>
        </p:txBody>
      </p:sp>
      <p:sp>
        <p:nvSpPr>
          <p:cNvPr id="20" name="Text 17"/>
          <p:cNvSpPr/>
          <p:nvPr/>
        </p:nvSpPr>
        <p:spPr>
          <a:xfrm>
            <a:off x="7260336" y="4142232"/>
            <a:ext cx="1097280"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Treatment</a:t>
            </a:r>
            <a:endParaRPr lang="en-US" sz="1000" dirty="0"/>
          </a:p>
        </p:txBody>
      </p:sp>
      <p:sp>
        <p:nvSpPr>
          <p:cNvPr id="21" name="Shape 18"/>
          <p:cNvSpPr/>
          <p:nvPr/>
        </p:nvSpPr>
        <p:spPr>
          <a:xfrm>
            <a:off x="8732520" y="1874520"/>
            <a:ext cx="2788920" cy="2487168"/>
          </a:xfrm>
          <a:prstGeom prst="roundRect">
            <a:avLst>
              <a:gd name="adj" fmla="val 3309"/>
            </a:avLst>
          </a:prstGeom>
          <a:solidFill>
            <a:srgbClr val="17193F"/>
          </a:solidFill>
          <a:ln/>
          <a:effectLst>
            <a:outerShdw sx="100000" sy="100000" kx="0" ky="0" algn="bl" rotWithShape="0" blurRad="114300" dist="38100" dir="5400000">
              <a:srgbClr val="1A1B34">
                <a:alpha val="12000"/>
              </a:srgbClr>
            </a:outerShdw>
          </a:effectLst>
        </p:spPr>
      </p:sp>
      <p:sp>
        <p:nvSpPr>
          <p:cNvPr id="22" name="Text 19"/>
          <p:cNvSpPr/>
          <p:nvPr/>
        </p:nvSpPr>
        <p:spPr>
          <a:xfrm>
            <a:off x="8942832" y="1993392"/>
            <a:ext cx="2377440" cy="274320"/>
          </a:xfrm>
          <a:prstGeom prst="rect">
            <a:avLst/>
          </a:prstGeom>
          <a:noFill/>
          <a:ln/>
        </p:spPr>
        <p:txBody>
          <a:bodyPr wrap="square" lIns="0" tIns="0" rIns="0" bIns="0" rtlCol="0" anchor="ctr"/>
          <a:lstStyle/>
          <a:p>
            <a:pPr indent="0" marL="0">
              <a:buNone/>
            </a:pPr>
            <a:r>
              <a:rPr lang="en-US" sz="1050" b="1" spc="150" kern="0" dirty="0">
                <a:solidFill>
                  <a:srgbClr val="3DD6F5"/>
                </a:solidFill>
                <a:latin typeface="Calibri" pitchFamily="34" charset="0"/>
                <a:ea typeface="Calibri" pitchFamily="34" charset="-122"/>
                <a:cs typeface="Calibri" pitchFamily="34" charset="-120"/>
              </a:rPr>
              <a:t>PROOF</a:t>
            </a:r>
            <a:endParaRPr lang="en-US" sz="1050" dirty="0"/>
          </a:p>
        </p:txBody>
      </p:sp>
      <p:sp>
        <p:nvSpPr>
          <p:cNvPr id="23" name="Text 20"/>
          <p:cNvSpPr/>
          <p:nvPr/>
        </p:nvSpPr>
        <p:spPr>
          <a:xfrm>
            <a:off x="8942832" y="2267712"/>
            <a:ext cx="2377440" cy="530352"/>
          </a:xfrm>
          <a:prstGeom prst="rect">
            <a:avLst/>
          </a:prstGeom>
          <a:noFill/>
          <a:ln/>
        </p:spPr>
        <p:txBody>
          <a:bodyPr wrap="square" lIns="0" tIns="0" rIns="0" bIns="0" rtlCol="0" anchor="ctr"/>
          <a:lstStyle/>
          <a:p>
            <a:pPr indent="0" marL="0">
              <a:buNone/>
            </a:pPr>
            <a:r>
              <a:rPr lang="en-US" sz="3200" b="1" dirty="0">
                <a:solidFill>
                  <a:srgbClr val="FFFFFF"/>
                </a:solidFill>
                <a:latin typeface="Bookman Old Style" pitchFamily="34" charset="0"/>
                <a:ea typeface="Bookman Old Style" pitchFamily="34" charset="-122"/>
                <a:cs typeface="Bookman Old Style" pitchFamily="34" charset="-120"/>
              </a:rPr>
              <a:t>20%</a:t>
            </a:r>
            <a:endParaRPr lang="en-US" sz="3200" dirty="0"/>
          </a:p>
        </p:txBody>
      </p:sp>
      <p:sp>
        <p:nvSpPr>
          <p:cNvPr id="24" name="Text 21"/>
          <p:cNvSpPr/>
          <p:nvPr/>
        </p:nvSpPr>
        <p:spPr>
          <a:xfrm>
            <a:off x="8942832" y="2798064"/>
            <a:ext cx="2377440" cy="457200"/>
          </a:xfrm>
          <a:prstGeom prst="rect">
            <a:avLst/>
          </a:prstGeom>
          <a:noFill/>
          <a:ln/>
        </p:spPr>
        <p:txBody>
          <a:bodyPr wrap="square" lIns="0" tIns="0" rIns="0" bIns="0" rtlCol="0" anchor="ctr"/>
          <a:lstStyle/>
          <a:p>
            <a:pPr indent="0" marL="0">
              <a:buNone/>
            </a:pPr>
            <a:r>
              <a:rPr lang="en-US" sz="1050" dirty="0">
                <a:solidFill>
                  <a:srgbClr val="C9CCE6"/>
                </a:solidFill>
                <a:latin typeface="Calibri" pitchFamily="34" charset="0"/>
                <a:ea typeface="Calibri" pitchFamily="34" charset="-122"/>
                <a:cs typeface="Calibri" pitchFamily="34" charset="-120"/>
              </a:rPr>
              <a:t>Gamma — lift in paid subscriptions</a:t>
            </a:r>
            <a:endParaRPr lang="en-US" sz="1050" dirty="0"/>
          </a:p>
        </p:txBody>
      </p:sp>
      <p:sp>
        <p:nvSpPr>
          <p:cNvPr id="25" name="Text 22"/>
          <p:cNvSpPr/>
          <p:nvPr/>
        </p:nvSpPr>
        <p:spPr>
          <a:xfrm>
            <a:off x="8942832" y="3310128"/>
            <a:ext cx="2377440" cy="9601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SmugMug  </a:t>
            </a:r>
            <a:endParaRPr lang="en-US" sz="1200" dirty="0"/>
          </a:p>
          <a:p>
            <a:pPr indent="0" marL="0">
              <a:buNone/>
            </a:pPr>
            <a:r>
              <a:rPr lang="en-US" sz="1000" dirty="0">
                <a:solidFill>
                  <a:srgbClr val="C9CCE6"/>
                </a:solidFill>
                <a:latin typeface="Calibri" pitchFamily="34" charset="0"/>
                <a:ea typeface="Calibri" pitchFamily="34" charset="-122"/>
                <a:cs typeface="Calibri" pitchFamily="34" charset="-120"/>
              </a:rPr>
              <a:t>PMs A/B test offers with no engineer time — lifting trial→paid conversion.</a:t>
            </a:r>
            <a:endParaRPr lang="en-US" sz="1200" dirty="0"/>
          </a:p>
        </p:txBody>
      </p:sp>
      <p:sp>
        <p:nvSpPr>
          <p:cNvPr id="26" name="Text 23"/>
          <p:cNvSpPr/>
          <p:nvPr/>
        </p:nvSpPr>
        <p:spPr>
          <a:xfrm>
            <a:off x="5440680" y="4480560"/>
            <a:ext cx="5486400" cy="27432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OBJECTIONS TO EXPECT</a:t>
            </a:r>
            <a:endParaRPr lang="en-US" sz="1100" dirty="0"/>
          </a:p>
        </p:txBody>
      </p:sp>
      <p:sp>
        <p:nvSpPr>
          <p:cNvPr id="27" name="Shape 24"/>
          <p:cNvSpPr/>
          <p:nvPr/>
        </p:nvSpPr>
        <p:spPr>
          <a:xfrm>
            <a:off x="5440680" y="4773168"/>
            <a:ext cx="2971800" cy="969264"/>
          </a:xfrm>
          <a:prstGeom prst="roundRect">
            <a:avLst>
              <a:gd name="adj" fmla="val 7547"/>
            </a:avLst>
          </a:prstGeom>
          <a:solidFill>
            <a:srgbClr val="EEF0FA"/>
          </a:solidFill>
          <a:ln w="12700">
            <a:solidFill>
              <a:srgbClr val="E4E6F0"/>
            </a:solidFill>
            <a:prstDash val="solid"/>
          </a:ln>
        </p:spPr>
      </p:sp>
      <p:sp>
        <p:nvSpPr>
          <p:cNvPr id="28" name="Text 25"/>
          <p:cNvSpPr/>
          <p:nvPr/>
        </p:nvSpPr>
        <p:spPr>
          <a:xfrm>
            <a:off x="5605272" y="4864608"/>
            <a:ext cx="2642616" cy="786384"/>
          </a:xfrm>
          <a:prstGeom prst="rect">
            <a:avLst/>
          </a:prstGeom>
          <a:noFill/>
          <a:ln/>
        </p:spPr>
        <p:txBody>
          <a:bodyPr wrap="square" rtlCol="0" anchor="t"/>
          <a:lstStyle/>
          <a:p>
            <a:pPr indent="0" marL="0">
              <a:lnSpc>
                <a:spcPct val="100000"/>
              </a:lnSpc>
              <a:buNone/>
            </a:pPr>
            <a:r>
              <a:rPr lang="en-US" sz="1050" b="1" dirty="0">
                <a:solidFill>
                  <a:srgbClr val="1A1B34"/>
                </a:solidFill>
                <a:latin typeface="Calibri" pitchFamily="34" charset="0"/>
                <a:ea typeface="Calibri" pitchFamily="34" charset="-122"/>
                <a:cs typeface="Calibri" pitchFamily="34" charset="-120"/>
              </a:rPr>
              <a:t>“We already use Optimizely / Statsig / GA.”</a:t>
            </a:r>
            <a:endParaRPr lang="en-US" sz="1050" dirty="0"/>
          </a:p>
          <a:p>
            <a:pPr indent="0" marL="0">
              <a:lnSpc>
                <a:spcPct val="100000"/>
              </a:lnSpc>
              <a:buNone/>
            </a:pPr>
            <a:r>
              <a:rPr lang="en-US" sz="950" dirty="0">
                <a:solidFill>
                  <a:srgbClr val="44465F"/>
                </a:solidFill>
                <a:latin typeface="Calibri" pitchFamily="34" charset="0"/>
                <a:ea typeface="Calibri" pitchFamily="34" charset="-122"/>
                <a:cs typeface="Calibri" pitchFamily="34" charset="-120"/>
              </a:rPr>
              <a:t>Those bolt on. Here the experiment runs on the flag you already ship — one platform.</a:t>
            </a:r>
            <a:endParaRPr lang="en-US" sz="1050" dirty="0"/>
          </a:p>
        </p:txBody>
      </p:sp>
      <p:sp>
        <p:nvSpPr>
          <p:cNvPr id="29" name="Shape 26"/>
          <p:cNvSpPr/>
          <p:nvPr/>
        </p:nvSpPr>
        <p:spPr>
          <a:xfrm>
            <a:off x="8549640" y="4773168"/>
            <a:ext cx="2971800" cy="969264"/>
          </a:xfrm>
          <a:prstGeom prst="roundRect">
            <a:avLst>
              <a:gd name="adj" fmla="val 7547"/>
            </a:avLst>
          </a:prstGeom>
          <a:solidFill>
            <a:srgbClr val="EEF0FA"/>
          </a:solidFill>
          <a:ln w="12700">
            <a:solidFill>
              <a:srgbClr val="E4E6F0"/>
            </a:solidFill>
            <a:prstDash val="solid"/>
          </a:ln>
        </p:spPr>
      </p:sp>
      <p:sp>
        <p:nvSpPr>
          <p:cNvPr id="30" name="Text 27"/>
          <p:cNvSpPr/>
          <p:nvPr/>
        </p:nvSpPr>
        <p:spPr>
          <a:xfrm>
            <a:off x="8714232" y="4864608"/>
            <a:ext cx="2642616" cy="786384"/>
          </a:xfrm>
          <a:prstGeom prst="rect">
            <a:avLst/>
          </a:prstGeom>
          <a:noFill/>
          <a:ln/>
        </p:spPr>
        <p:txBody>
          <a:bodyPr wrap="square" rtlCol="0" anchor="t"/>
          <a:lstStyle/>
          <a:p>
            <a:pPr indent="0" marL="0">
              <a:lnSpc>
                <a:spcPct val="100000"/>
              </a:lnSpc>
              <a:buNone/>
            </a:pPr>
            <a:r>
              <a:rPr lang="en-US" sz="1050" b="1" dirty="0">
                <a:solidFill>
                  <a:srgbClr val="1A1B34"/>
                </a:solidFill>
                <a:latin typeface="Calibri" pitchFamily="34" charset="0"/>
                <a:ea typeface="Calibri" pitchFamily="34" charset="-122"/>
                <a:cs typeface="Calibri" pitchFamily="34" charset="-120"/>
              </a:rPr>
              <a:t>“How much traffic to reach significance?”</a:t>
            </a:r>
            <a:endParaRPr lang="en-US" sz="1050" dirty="0"/>
          </a:p>
          <a:p>
            <a:pPr indent="0" marL="0">
              <a:lnSpc>
                <a:spcPct val="100000"/>
              </a:lnSpc>
              <a:buNone/>
            </a:pPr>
            <a:r>
              <a:rPr lang="en-US" sz="950" dirty="0">
                <a:solidFill>
                  <a:srgbClr val="44465F"/>
                </a:solidFill>
                <a:latin typeface="Calibri" pitchFamily="34" charset="0"/>
                <a:ea typeface="Calibri" pitchFamily="34" charset="-122"/>
                <a:cs typeface="Calibri" pitchFamily="34" charset="-120"/>
              </a:rPr>
              <a:t>40k/day reaches power fast; sequential testing + CUPED shorten runtime.</a:t>
            </a:r>
            <a:endParaRPr lang="en-US" sz="1050" dirty="0"/>
          </a:p>
        </p:txBody>
      </p:sp>
      <p:sp>
        <p:nvSpPr>
          <p:cNvPr id="31" name="Text 28"/>
          <p:cNvSpPr/>
          <p:nvPr/>
        </p:nvSpPr>
        <p:spPr>
          <a:xfrm>
            <a:off x="640080" y="6473952"/>
            <a:ext cx="7315200" cy="274320"/>
          </a:xfrm>
          <a:prstGeom prst="rect">
            <a:avLst/>
          </a:prstGeom>
          <a:noFill/>
          <a:ln/>
        </p:spPr>
        <p:txBody>
          <a:bodyPr wrap="square" lIns="0" tIns="0" rIns="0" bIns="0" rtlCol="0" anchor="ctr"/>
          <a:lstStyle/>
          <a:p>
            <a:pPr indent="0" marL="0">
              <a:buNone/>
            </a:pPr>
            <a:r>
              <a:rPr lang="en-US" sz="850" dirty="0">
                <a:solidFill>
                  <a:srgbClr val="AEB2C7"/>
                </a:solidFill>
                <a:latin typeface="Calibri" pitchFamily="34" charset="0"/>
                <a:ea typeface="Calibri" pitchFamily="34" charset="-122"/>
                <a:cs typeface="Calibri" pitchFamily="34" charset="-120"/>
              </a:rPr>
              <a:t>LaunchDarkly · Solution Overview for ABC Company</a:t>
            </a:r>
            <a:endParaRPr lang="en-US" sz="850" dirty="0"/>
          </a:p>
        </p:txBody>
      </p:sp>
      <p:sp>
        <p:nvSpPr>
          <p:cNvPr id="32" name="Text 29"/>
          <p:cNvSpPr/>
          <p:nvPr/>
        </p:nvSpPr>
        <p:spPr>
          <a:xfrm>
            <a:off x="11274552" y="6473952"/>
            <a:ext cx="365760" cy="274320"/>
          </a:xfrm>
          <a:prstGeom prst="rect">
            <a:avLst/>
          </a:prstGeom>
          <a:noFill/>
          <a:ln/>
        </p:spPr>
        <p:txBody>
          <a:bodyPr wrap="square" lIns="0" tIns="0" rIns="0" bIns="0" rtlCol="0" anchor="ctr"/>
          <a:lstStyle/>
          <a:p>
            <a:pPr algn="r" indent="0" marL="0">
              <a:buNone/>
            </a:pPr>
            <a:r>
              <a:rPr lang="en-US" sz="850" dirty="0">
                <a:solidFill>
                  <a:srgbClr val="AEB2C7"/>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C"/>
        </a:solidFill>
      </p:bgPr>
    </p:bg>
    <p:spTree>
      <p:nvGrpSpPr>
        <p:cNvPr id="1" name=""/>
        <p:cNvGrpSpPr/>
        <p:nvPr/>
      </p:nvGrpSpPr>
      <p:grpSpPr>
        <a:xfrm>
          <a:off x="0" y="0"/>
          <a:ext cx="0" cy="0"/>
          <a:chOff x="0" y="0"/>
          <a:chExt cx="0" cy="0"/>
        </a:xfrm>
      </p:grpSpPr>
      <p:sp>
        <p:nvSpPr>
          <p:cNvPr id="2" name="Shape 0"/>
          <p:cNvSpPr/>
          <p:nvPr/>
        </p:nvSpPr>
        <p:spPr>
          <a:xfrm>
            <a:off x="640080" y="457200"/>
            <a:ext cx="777240" cy="777240"/>
          </a:xfrm>
          <a:prstGeom prst="ellipse">
            <a:avLst/>
          </a:prstGeom>
          <a:solidFill>
            <a:srgbClr val="1B1E4B"/>
          </a:solidFill>
          <a:ln/>
          <a:effectLst>
            <a:outerShdw sx="100000" sy="100000" kx="0" ky="0" algn="bl" rotWithShape="0" blurRad="114300" dist="38100" dir="5400000">
              <a:srgbClr val="1A1B34">
                <a:alpha val="12000"/>
              </a:srgbClr>
            </a:outerShdw>
          </a:effectLst>
        </p:spPr>
      </p:sp>
      <p:pic>
        <p:nvPicPr>
          <p:cNvPr id="3" name="Image 0" descr="preencoded.png">    </p:cNvPr>
          <p:cNvPicPr>
            <a:picLocks noChangeAspect="1"/>
          </p:cNvPicPr>
          <p:nvPr/>
        </p:nvPicPr>
        <p:blipFill>
          <a:blip r:embed="rId1"/>
          <a:stretch>
            <a:fillRect/>
          </a:stretch>
        </p:blipFill>
        <p:spPr>
          <a:xfrm>
            <a:off x="842162" y="659282"/>
            <a:ext cx="373075" cy="373075"/>
          </a:xfrm>
          <a:prstGeom prst="rect">
            <a:avLst/>
          </a:prstGeom>
        </p:spPr>
      </p:pic>
      <p:sp>
        <p:nvSpPr>
          <p:cNvPr id="4" name="Text 1"/>
          <p:cNvSpPr/>
          <p:nvPr/>
        </p:nvSpPr>
        <p:spPr>
          <a:xfrm>
            <a:off x="1600200" y="457200"/>
            <a:ext cx="9144000" cy="274320"/>
          </a:xfrm>
          <a:prstGeom prst="rect">
            <a:avLst/>
          </a:prstGeom>
          <a:noFill/>
          <a:ln/>
        </p:spPr>
        <p:txBody>
          <a:bodyPr wrap="square" lIns="0" tIns="0" rIns="0" bIns="0" rtlCol="0" anchor="ctr"/>
          <a:lstStyle/>
          <a:p>
            <a:pPr indent="0" marL="0">
              <a:buNone/>
            </a:pPr>
            <a:r>
              <a:rPr lang="en-US" sz="1200" b="1" spc="250" kern="0" dirty="0">
                <a:solidFill>
                  <a:srgbClr val="6366F1"/>
                </a:solidFill>
                <a:latin typeface="Calibri" pitchFamily="34" charset="0"/>
                <a:ea typeface="Calibri" pitchFamily="34" charset="-122"/>
                <a:cs typeface="Calibri" pitchFamily="34" charset="-120"/>
              </a:rPr>
              <a:t>EXTRA CREDIT</a:t>
            </a:r>
            <a:endParaRPr lang="en-US" sz="1200" dirty="0"/>
          </a:p>
        </p:txBody>
      </p:sp>
      <p:sp>
        <p:nvSpPr>
          <p:cNvPr id="5" name="Text 2"/>
          <p:cNvSpPr/>
          <p:nvPr/>
        </p:nvSpPr>
        <p:spPr>
          <a:xfrm>
            <a:off x="1572768" y="713232"/>
            <a:ext cx="10058400" cy="566928"/>
          </a:xfrm>
          <a:prstGeom prst="rect">
            <a:avLst/>
          </a:prstGeom>
          <a:noFill/>
          <a:ln/>
        </p:spPr>
        <p:txBody>
          <a:bodyPr wrap="square" lIns="0" tIns="0" rIns="0" bIns="0" rtlCol="0" anchor="ctr"/>
          <a:lstStyle/>
          <a:p>
            <a:pPr indent="0" marL="0">
              <a:buNone/>
            </a:pPr>
            <a:r>
              <a:rPr lang="en-US" sz="2800" b="1" dirty="0">
                <a:solidFill>
                  <a:srgbClr val="1A1B34"/>
                </a:solidFill>
                <a:latin typeface="Bookman Old Style" pitchFamily="34" charset="0"/>
                <a:ea typeface="Bookman Old Style" pitchFamily="34" charset="-122"/>
                <a:cs typeface="Bookman Old Style" pitchFamily="34" charset="-120"/>
              </a:rPr>
              <a:t>AI Configs</a:t>
            </a:r>
            <a:endParaRPr lang="en-US" sz="2800" dirty="0"/>
          </a:p>
        </p:txBody>
      </p:sp>
      <p:sp>
        <p:nvSpPr>
          <p:cNvPr id="6" name="Text 3"/>
          <p:cNvSpPr/>
          <p:nvPr/>
        </p:nvSpPr>
        <p:spPr>
          <a:xfrm>
            <a:off x="1600200" y="1298448"/>
            <a:ext cx="10241280" cy="365760"/>
          </a:xfrm>
          <a:prstGeom prst="rect">
            <a:avLst/>
          </a:prstGeom>
          <a:noFill/>
          <a:ln/>
        </p:spPr>
        <p:txBody>
          <a:bodyPr wrap="square" lIns="0" tIns="0" rIns="0" bIns="0" rtlCol="0" anchor="ctr"/>
          <a:lstStyle/>
          <a:p>
            <a:pPr indent="0" marL="0">
              <a:buNone/>
            </a:pPr>
            <a:r>
              <a:rPr lang="en-US" sz="1400" i="1" dirty="0">
                <a:solidFill>
                  <a:srgbClr val="4B4D6B"/>
                </a:solidFill>
                <a:latin typeface="Calibri" pitchFamily="34" charset="0"/>
                <a:ea typeface="Calibri" pitchFamily="34" charset="-122"/>
                <a:cs typeface="Calibri" pitchFamily="34" charset="-120"/>
              </a:rPr>
              <a:t>Prompt and model become runtime config — not a redeploy.</a:t>
            </a:r>
            <a:endParaRPr lang="en-US" sz="1400" dirty="0"/>
          </a:p>
        </p:txBody>
      </p:sp>
      <p:sp>
        <p:nvSpPr>
          <p:cNvPr id="7" name="Text 4"/>
          <p:cNvSpPr/>
          <p:nvPr/>
        </p:nvSpPr>
        <p:spPr>
          <a:xfrm>
            <a:off x="640080" y="1874520"/>
            <a:ext cx="4572000" cy="256032"/>
          </a:xfrm>
          <a:prstGeom prst="rect">
            <a:avLst/>
          </a:prstGeom>
          <a:noFill/>
          <a:ln/>
        </p:spPr>
        <p:txBody>
          <a:bodyPr wrap="square" lIns="0" tIns="0" rIns="0" bIns="0" rtlCol="0" anchor="ctr"/>
          <a:lstStyle/>
          <a:p>
            <a:pPr indent="0" marL="0">
              <a:buNone/>
            </a:pPr>
            <a:r>
              <a:rPr lang="en-US" sz="1100" b="1" spc="200" kern="0" dirty="0">
                <a:solidFill>
                  <a:srgbClr val="6B7280"/>
                </a:solidFill>
                <a:latin typeface="Calibri" pitchFamily="34" charset="0"/>
                <a:ea typeface="Calibri" pitchFamily="34" charset="-122"/>
                <a:cs typeface="Calibri" pitchFamily="34" charset="-120"/>
              </a:rPr>
              <a:t>VALUE</a:t>
            </a:r>
            <a:endParaRPr lang="en-US" sz="1100" dirty="0"/>
          </a:p>
        </p:txBody>
      </p:sp>
      <p:sp>
        <p:nvSpPr>
          <p:cNvPr id="8" name="Text 5"/>
          <p:cNvSpPr/>
          <p:nvPr/>
        </p:nvSpPr>
        <p:spPr>
          <a:xfrm>
            <a:off x="640080" y="2167128"/>
            <a:ext cx="4572000" cy="20116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2C2E4A"/>
                </a:solidFill>
                <a:latin typeface="Calibri" pitchFamily="34" charset="0"/>
                <a:ea typeface="Calibri" pitchFamily="34" charset="-122"/>
                <a:cs typeface="Calibri" pitchFamily="34" charset="-120"/>
              </a:rPr>
              <a:t>Change model, prompt, or temperature live — next request uses it.</a:t>
            </a:r>
            <a:endParaRPr lang="en-US" sz="1250" dirty="0"/>
          </a:p>
          <a:p>
            <a:pPr marL="177800" indent="-177800">
              <a:spcAft>
                <a:spcPts val="700"/>
              </a:spcAft>
              <a:buSzPct val="100000"/>
              <a:buChar char="•"/>
            </a:pPr>
            <a:r>
              <a:rPr lang="en-US" sz="1250" dirty="0">
                <a:solidFill>
                  <a:srgbClr val="2C2E4A"/>
                </a:solidFill>
                <a:latin typeface="Calibri" pitchFamily="34" charset="0"/>
                <a:ea typeface="Calibri" pitchFamily="34" charset="-122"/>
                <a:cs typeface="Calibri" pitchFamily="34" charset="-120"/>
              </a:rPr>
              <a:t>Target &amp; canary AI like any feature: premium model for enterprise, cheap for free.</a:t>
            </a:r>
            <a:endParaRPr lang="en-US" sz="1250" dirty="0"/>
          </a:p>
          <a:p>
            <a:pPr marL="177800" indent="-177800">
              <a:spcAft>
                <a:spcPts val="700"/>
              </a:spcAft>
              <a:buSzPct val="100000"/>
              <a:buChar char="•"/>
            </a:pPr>
            <a:r>
              <a:rPr lang="en-US" sz="1250" dirty="0">
                <a:solidFill>
                  <a:srgbClr val="2C2E4A"/>
                </a:solidFill>
                <a:latin typeface="Calibri" pitchFamily="34" charset="0"/>
                <a:ea typeface="Calibri" pitchFamily="34" charset="-122"/>
                <a:cs typeface="Calibri" pitchFamily="34" charset="-120"/>
              </a:rPr>
              <a:t>Experiment on prompts/models by latency, token cost, or user feedback.</a:t>
            </a:r>
            <a:endParaRPr lang="en-US" sz="1250" dirty="0"/>
          </a:p>
          <a:p>
            <a:pPr marL="177800" indent="-177800">
              <a:spcAft>
                <a:spcPts val="700"/>
              </a:spcAft>
              <a:buSzPct val="100000"/>
              <a:buChar char="•"/>
            </a:pPr>
            <a:r>
              <a:rPr lang="en-US" sz="1250" dirty="0">
                <a:solidFill>
                  <a:srgbClr val="2C2E4A"/>
                </a:solidFill>
                <a:latin typeface="Calibri" pitchFamily="34" charset="0"/>
                <a:ea typeface="Calibri" pitchFamily="34" charset="-122"/>
                <a:cs typeface="Calibri" pitchFamily="34" charset="-120"/>
              </a:rPr>
              <a:t>Instant rollback of a bad prompt or a runaway model — a flag flip.</a:t>
            </a:r>
            <a:endParaRPr lang="en-US" sz="1250" dirty="0"/>
          </a:p>
        </p:txBody>
      </p:sp>
      <p:sp>
        <p:nvSpPr>
          <p:cNvPr id="9" name="Shape 6"/>
          <p:cNvSpPr/>
          <p:nvPr/>
        </p:nvSpPr>
        <p:spPr>
          <a:xfrm>
            <a:off x="640080" y="4160520"/>
            <a:ext cx="4572000" cy="1874520"/>
          </a:xfrm>
          <a:prstGeom prst="roundRect">
            <a:avLst>
              <a:gd name="adj" fmla="val 3902"/>
            </a:avLst>
          </a:prstGeom>
          <a:solidFill>
            <a:srgbClr val="0E1030"/>
          </a:solidFill>
          <a:ln/>
          <a:effectLst>
            <a:outerShdw sx="100000" sy="100000" kx="0" ky="0" algn="bl" rotWithShape="0" blurRad="114300" dist="38100" dir="5400000">
              <a:srgbClr val="1A1B34">
                <a:alpha val="12000"/>
              </a:srgbClr>
            </a:outerShdw>
          </a:effectLst>
        </p:spPr>
      </p:sp>
      <p:sp>
        <p:nvSpPr>
          <p:cNvPr id="10" name="Text 7"/>
          <p:cNvSpPr/>
          <p:nvPr/>
        </p:nvSpPr>
        <p:spPr>
          <a:xfrm>
            <a:off x="841248" y="4306824"/>
            <a:ext cx="4169664" cy="274320"/>
          </a:xfrm>
          <a:prstGeom prst="rect">
            <a:avLst/>
          </a:prstGeom>
          <a:noFill/>
          <a:ln/>
        </p:spPr>
        <p:txBody>
          <a:bodyPr wrap="square" lIns="0" tIns="0" rIns="0" bIns="0" rtlCol="0" anchor="ctr"/>
          <a:lstStyle/>
          <a:p>
            <a:pPr indent="0" marL="0">
              <a:buNone/>
            </a:pPr>
            <a:r>
              <a:rPr lang="en-US" sz="1050" b="1" spc="150" kern="0" dirty="0">
                <a:solidFill>
                  <a:srgbClr val="3DD6F5"/>
                </a:solidFill>
                <a:latin typeface="Calibri" pitchFamily="34" charset="0"/>
                <a:ea typeface="Calibri" pitchFamily="34" charset="-122"/>
                <a:cs typeface="Calibri" pitchFamily="34" charset="-120"/>
              </a:rPr>
              <a:t>WHAT WE SHOW IN THE APP</a:t>
            </a:r>
            <a:endParaRPr lang="en-US" sz="1050" dirty="0"/>
          </a:p>
        </p:txBody>
      </p:sp>
      <p:sp>
        <p:nvSpPr>
          <p:cNvPr id="11" name="Text 8"/>
          <p:cNvSpPr/>
          <p:nvPr/>
        </p:nvSpPr>
        <p:spPr>
          <a:xfrm>
            <a:off x="896112" y="4636008"/>
            <a:ext cx="4114800" cy="1234440"/>
          </a:xfrm>
          <a:prstGeom prst="rect">
            <a:avLst/>
          </a:prstGeom>
          <a:noFill/>
          <a:ln/>
        </p:spPr>
        <p:txBody>
          <a:bodyPr wrap="square" lIns="0" tIns="0" rIns="0" bIns="0" rtlCol="0" anchor="t"/>
          <a:lstStyle/>
          <a:p>
            <a:pPr marL="203200" indent="-203200">
              <a:spcAft>
                <a:spcPts val="600"/>
              </a:spcAft>
              <a:buSzPct val="100000"/>
              <a:buFont typeface="+mj-lt"/>
              <a:buAutoNum type="arabicPeriod" startAt="1"/>
            </a:pPr>
            <a:r>
              <a:rPr lang="en-US" sz="1150" dirty="0">
                <a:solidFill>
                  <a:srgbClr val="E7E9FA"/>
                </a:solidFill>
                <a:latin typeface="Calibri" pitchFamily="34" charset="0"/>
                <a:ea typeface="Calibri" pitchFamily="34" charset="-122"/>
                <a:cs typeface="Calibri" pitchFamily="34" charset="-120"/>
              </a:rPr>
              <a:t>Server reads support-chatbot AI Config at request time — no hard-coded model.</a:t>
            </a:r>
            <a:endParaRPr lang="en-US" sz="1150" dirty="0"/>
          </a:p>
          <a:p>
            <a:pPr marL="203200" indent="-203200">
              <a:spcAft>
                <a:spcPts val="600"/>
              </a:spcAft>
              <a:buSzPct val="100000"/>
              <a:buFont typeface="+mj-lt"/>
              <a:buAutoNum type="arabicPeriod" startAt="1"/>
            </a:pPr>
            <a:r>
              <a:rPr lang="en-US" sz="1150" dirty="0">
                <a:solidFill>
                  <a:srgbClr val="E7E9FA"/>
                </a:solidFill>
                <a:latin typeface="Calibri" pitchFamily="34" charset="0"/>
                <a:ea typeface="Calibri" pitchFamily="34" charset="-122"/>
                <a:cs typeface="Calibri" pitchFamily="34" charset="-120"/>
              </a:rPr>
              <a:t>Swap model / edit prompt in LD → next message reflects it, no restart.</a:t>
            </a:r>
            <a:endParaRPr lang="en-US" sz="1150" dirty="0"/>
          </a:p>
        </p:txBody>
      </p:sp>
      <p:sp>
        <p:nvSpPr>
          <p:cNvPr id="12" name="Shape 9"/>
          <p:cNvSpPr/>
          <p:nvPr/>
        </p:nvSpPr>
        <p:spPr>
          <a:xfrm>
            <a:off x="5532120" y="1874520"/>
            <a:ext cx="2926080" cy="2057400"/>
          </a:xfrm>
          <a:prstGeom prst="roundRect">
            <a:avLst>
              <a:gd name="adj" fmla="val 4000"/>
            </a:avLst>
          </a:prstGeom>
          <a:solidFill>
            <a:srgbClr val="F3E9E9"/>
          </a:solidFill>
          <a:ln w="12700">
            <a:solidFill>
              <a:srgbClr val="E9C9C9"/>
            </a:solidFill>
            <a:prstDash val="solid"/>
          </a:ln>
        </p:spPr>
      </p:sp>
      <p:sp>
        <p:nvSpPr>
          <p:cNvPr id="13" name="Text 10"/>
          <p:cNvSpPr/>
          <p:nvPr/>
        </p:nvSpPr>
        <p:spPr>
          <a:xfrm>
            <a:off x="5715000" y="2029968"/>
            <a:ext cx="2560320" cy="274320"/>
          </a:xfrm>
          <a:prstGeom prst="rect">
            <a:avLst/>
          </a:prstGeom>
          <a:noFill/>
          <a:ln/>
        </p:spPr>
        <p:txBody>
          <a:bodyPr wrap="square" lIns="0" tIns="0" rIns="0" bIns="0" rtlCol="0" anchor="ctr"/>
          <a:lstStyle/>
          <a:p>
            <a:pPr indent="0" marL="0">
              <a:buNone/>
            </a:pPr>
            <a:r>
              <a:rPr lang="en-US" sz="1050" b="1" spc="150" kern="0" dirty="0">
                <a:solidFill>
                  <a:srgbClr val="FF6B6B"/>
                </a:solidFill>
                <a:latin typeface="Calibri" pitchFamily="34" charset="0"/>
                <a:ea typeface="Calibri" pitchFamily="34" charset="-122"/>
                <a:cs typeface="Calibri" pitchFamily="34" charset="-120"/>
              </a:rPr>
              <a:t>WITHOUT LD</a:t>
            </a:r>
            <a:endParaRPr lang="en-US" sz="1050" dirty="0"/>
          </a:p>
        </p:txBody>
      </p:sp>
      <p:sp>
        <p:nvSpPr>
          <p:cNvPr id="14" name="Text 11"/>
          <p:cNvSpPr/>
          <p:nvPr/>
        </p:nvSpPr>
        <p:spPr>
          <a:xfrm>
            <a:off x="5760720" y="2340864"/>
            <a:ext cx="2514600" cy="14630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5A3E3E"/>
                </a:solidFill>
                <a:latin typeface="Calibri" pitchFamily="34" charset="0"/>
                <a:ea typeface="Calibri" pitchFamily="34" charset="-122"/>
                <a:cs typeface="Calibri" pitchFamily="34" charset="-120"/>
              </a:rPr>
              <a:t>Prompt &amp; model in code</a:t>
            </a:r>
            <a:endParaRPr lang="en-US" sz="1100" dirty="0"/>
          </a:p>
          <a:p>
            <a:pPr marL="342900" indent="-342900">
              <a:spcAft>
                <a:spcPts val="500"/>
              </a:spcAft>
              <a:buSzPct val="100000"/>
              <a:buChar char="•"/>
            </a:pPr>
            <a:r>
              <a:rPr lang="en-US" sz="1100" dirty="0">
                <a:solidFill>
                  <a:srgbClr val="5A3E3E"/>
                </a:solidFill>
                <a:latin typeface="Calibri" pitchFamily="34" charset="0"/>
                <a:ea typeface="Calibri" pitchFamily="34" charset="-122"/>
                <a:cs typeface="Calibri" pitchFamily="34" charset="-120"/>
              </a:rPr>
              <a:t>Every tweak = a deploy</a:t>
            </a:r>
            <a:endParaRPr lang="en-US" sz="1100" dirty="0"/>
          </a:p>
          <a:p>
            <a:pPr marL="342900" indent="-342900">
              <a:spcAft>
                <a:spcPts val="500"/>
              </a:spcAft>
              <a:buSzPct val="100000"/>
              <a:buChar char="•"/>
            </a:pPr>
            <a:r>
              <a:rPr lang="en-US" sz="1100" dirty="0">
                <a:solidFill>
                  <a:srgbClr val="5A3E3E"/>
                </a:solidFill>
                <a:latin typeface="Calibri" pitchFamily="34" charset="0"/>
                <a:ea typeface="Calibri" pitchFamily="34" charset="-122"/>
                <a:cs typeface="Calibri" pitchFamily="34" charset="-120"/>
              </a:rPr>
              <a:t>No per-user targeting</a:t>
            </a:r>
            <a:endParaRPr lang="en-US" sz="1100" dirty="0"/>
          </a:p>
          <a:p>
            <a:pPr marL="342900" indent="-342900">
              <a:buSzPct val="100000"/>
              <a:buChar char="•"/>
            </a:pPr>
            <a:r>
              <a:rPr lang="en-US" sz="1100" dirty="0">
                <a:solidFill>
                  <a:srgbClr val="5A3E3E"/>
                </a:solidFill>
                <a:latin typeface="Calibri" pitchFamily="34" charset="0"/>
                <a:ea typeface="Calibri" pitchFamily="34" charset="-122"/>
                <a:cs typeface="Calibri" pitchFamily="34" charset="-120"/>
              </a:rPr>
              <a:t>No experiment, no rollback</a:t>
            </a:r>
            <a:endParaRPr lang="en-US" sz="1100" dirty="0"/>
          </a:p>
        </p:txBody>
      </p:sp>
      <p:sp>
        <p:nvSpPr>
          <p:cNvPr id="15" name="Shape 12"/>
          <p:cNvSpPr/>
          <p:nvPr/>
        </p:nvSpPr>
        <p:spPr>
          <a:xfrm>
            <a:off x="8595360" y="1874520"/>
            <a:ext cx="2926080" cy="2057400"/>
          </a:xfrm>
          <a:prstGeom prst="roundRect">
            <a:avLst>
              <a:gd name="adj" fmla="val 4000"/>
            </a:avLst>
          </a:prstGeom>
          <a:solidFill>
            <a:srgbClr val="E6F0EA"/>
          </a:solidFill>
          <a:ln w="12700">
            <a:solidFill>
              <a:srgbClr val="C5E2D1"/>
            </a:solidFill>
            <a:prstDash val="solid"/>
          </a:ln>
        </p:spPr>
      </p:sp>
      <p:sp>
        <p:nvSpPr>
          <p:cNvPr id="16" name="Text 13"/>
          <p:cNvSpPr/>
          <p:nvPr/>
        </p:nvSpPr>
        <p:spPr>
          <a:xfrm>
            <a:off x="8778240" y="2029968"/>
            <a:ext cx="2560320" cy="274320"/>
          </a:xfrm>
          <a:prstGeom prst="rect">
            <a:avLst/>
          </a:prstGeom>
          <a:noFill/>
          <a:ln/>
        </p:spPr>
        <p:txBody>
          <a:bodyPr wrap="square" lIns="0" tIns="0" rIns="0" bIns="0" rtlCol="0" anchor="ctr"/>
          <a:lstStyle/>
          <a:p>
            <a:pPr indent="0" marL="0">
              <a:buNone/>
            </a:pPr>
            <a:r>
              <a:rPr lang="en-US" sz="1050" b="1" spc="100" kern="0" dirty="0">
                <a:solidFill>
                  <a:srgbClr val="1B8A4B"/>
                </a:solidFill>
                <a:latin typeface="Calibri" pitchFamily="34" charset="0"/>
                <a:ea typeface="Calibri" pitchFamily="34" charset="-122"/>
                <a:cs typeface="Calibri" pitchFamily="34" charset="-120"/>
              </a:rPr>
              <a:t>WITH LD AI CONFIGS</a:t>
            </a:r>
            <a:endParaRPr lang="en-US" sz="1050" dirty="0"/>
          </a:p>
        </p:txBody>
      </p:sp>
      <p:sp>
        <p:nvSpPr>
          <p:cNvPr id="17" name="Text 14"/>
          <p:cNvSpPr/>
          <p:nvPr/>
        </p:nvSpPr>
        <p:spPr>
          <a:xfrm>
            <a:off x="8823960" y="2340864"/>
            <a:ext cx="2514600" cy="14630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C4A38"/>
                </a:solidFill>
                <a:latin typeface="Calibri" pitchFamily="34" charset="0"/>
                <a:ea typeface="Calibri" pitchFamily="34" charset="-122"/>
                <a:cs typeface="Calibri" pitchFamily="34" charset="-120"/>
              </a:rPr>
              <a:t>Prompt &amp; model as config</a:t>
            </a:r>
            <a:endParaRPr lang="en-US" sz="1100" dirty="0"/>
          </a:p>
          <a:p>
            <a:pPr marL="342900" indent="-342900">
              <a:spcAft>
                <a:spcPts val="500"/>
              </a:spcAft>
              <a:buSzPct val="100000"/>
              <a:buChar char="•"/>
            </a:pPr>
            <a:r>
              <a:rPr lang="en-US" sz="1100" dirty="0">
                <a:solidFill>
                  <a:srgbClr val="2C4A38"/>
                </a:solidFill>
                <a:latin typeface="Calibri" pitchFamily="34" charset="0"/>
                <a:ea typeface="Calibri" pitchFamily="34" charset="-122"/>
                <a:cs typeface="Calibri" pitchFamily="34" charset="-120"/>
              </a:rPr>
              <a:t>Change live, no redeploy</a:t>
            </a:r>
            <a:endParaRPr lang="en-US" sz="1100" dirty="0"/>
          </a:p>
          <a:p>
            <a:pPr marL="342900" indent="-342900">
              <a:spcAft>
                <a:spcPts val="500"/>
              </a:spcAft>
              <a:buSzPct val="100000"/>
              <a:buChar char="•"/>
            </a:pPr>
            <a:r>
              <a:rPr lang="en-US" sz="1100" dirty="0">
                <a:solidFill>
                  <a:srgbClr val="2C4A38"/>
                </a:solidFill>
                <a:latin typeface="Calibri" pitchFamily="34" charset="0"/>
                <a:ea typeface="Calibri" pitchFamily="34" charset="-122"/>
                <a:cs typeface="Calibri" pitchFamily="34" charset="-120"/>
              </a:rPr>
              <a:t>Target by tier; canary prompts</a:t>
            </a:r>
            <a:endParaRPr lang="en-US" sz="1100" dirty="0"/>
          </a:p>
          <a:p>
            <a:pPr marL="342900" indent="-342900">
              <a:buSzPct val="100000"/>
              <a:buChar char="•"/>
            </a:pPr>
            <a:r>
              <a:rPr lang="en-US" sz="1100" dirty="0">
                <a:solidFill>
                  <a:srgbClr val="2C4A38"/>
                </a:solidFill>
                <a:latin typeface="Calibri" pitchFamily="34" charset="0"/>
                <a:ea typeface="Calibri" pitchFamily="34" charset="-122"/>
                <a:cs typeface="Calibri" pitchFamily="34" charset="-120"/>
              </a:rPr>
              <a:t>Experiment + instant rollback</a:t>
            </a:r>
            <a:endParaRPr lang="en-US" sz="1100" dirty="0"/>
          </a:p>
        </p:txBody>
      </p:sp>
      <p:sp>
        <p:nvSpPr>
          <p:cNvPr id="18" name="Text 15"/>
          <p:cNvSpPr/>
          <p:nvPr/>
        </p:nvSpPr>
        <p:spPr>
          <a:xfrm>
            <a:off x="5532120" y="4114800"/>
            <a:ext cx="5486400" cy="27432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OBJECTIONS TO EXPECT</a:t>
            </a:r>
            <a:endParaRPr lang="en-US" sz="1100" dirty="0"/>
          </a:p>
        </p:txBody>
      </p:sp>
      <p:sp>
        <p:nvSpPr>
          <p:cNvPr id="19" name="Shape 16"/>
          <p:cNvSpPr/>
          <p:nvPr/>
        </p:nvSpPr>
        <p:spPr>
          <a:xfrm>
            <a:off x="5532120" y="4407408"/>
            <a:ext cx="2907792" cy="969264"/>
          </a:xfrm>
          <a:prstGeom prst="roundRect">
            <a:avLst>
              <a:gd name="adj" fmla="val 7547"/>
            </a:avLst>
          </a:prstGeom>
          <a:solidFill>
            <a:srgbClr val="EEF0FA"/>
          </a:solidFill>
          <a:ln w="12700">
            <a:solidFill>
              <a:srgbClr val="E4E6F0"/>
            </a:solidFill>
            <a:prstDash val="solid"/>
          </a:ln>
        </p:spPr>
      </p:sp>
      <p:sp>
        <p:nvSpPr>
          <p:cNvPr id="20" name="Text 17"/>
          <p:cNvSpPr/>
          <p:nvPr/>
        </p:nvSpPr>
        <p:spPr>
          <a:xfrm>
            <a:off x="5696712" y="4498848"/>
            <a:ext cx="2578608" cy="786384"/>
          </a:xfrm>
          <a:prstGeom prst="rect">
            <a:avLst/>
          </a:prstGeom>
          <a:noFill/>
          <a:ln/>
        </p:spPr>
        <p:txBody>
          <a:bodyPr wrap="square" rtlCol="0" anchor="t"/>
          <a:lstStyle/>
          <a:p>
            <a:pPr indent="0" marL="0">
              <a:lnSpc>
                <a:spcPct val="100000"/>
              </a:lnSpc>
              <a:buNone/>
            </a:pPr>
            <a:r>
              <a:rPr lang="en-US" sz="1050" b="1" dirty="0">
                <a:solidFill>
                  <a:srgbClr val="1A1B34"/>
                </a:solidFill>
                <a:latin typeface="Calibri" pitchFamily="34" charset="0"/>
                <a:ea typeface="Calibri" pitchFamily="34" charset="-122"/>
                <a:cs typeface="Calibri" pitchFamily="34" charset="-120"/>
              </a:rPr>
              <a:t>“We just edit prompts in code.”</a:t>
            </a:r>
            <a:endParaRPr lang="en-US" sz="1050" dirty="0"/>
          </a:p>
          <a:p>
            <a:pPr indent="0" marL="0">
              <a:lnSpc>
                <a:spcPct val="100000"/>
              </a:lnSpc>
              <a:buNone/>
            </a:pPr>
            <a:r>
              <a:rPr lang="en-US" sz="950" dirty="0">
                <a:solidFill>
                  <a:srgbClr val="44465F"/>
                </a:solidFill>
                <a:latin typeface="Calibri" pitchFamily="34" charset="0"/>
                <a:ea typeface="Calibri" pitchFamily="34" charset="-122"/>
                <a:cs typeface="Calibri" pitchFamily="34" charset="-120"/>
              </a:rPr>
              <a:t>Then every tweak is a deploy — no targeting, experiment, rollback, or audit.</a:t>
            </a:r>
            <a:endParaRPr lang="en-US" sz="1050" dirty="0"/>
          </a:p>
        </p:txBody>
      </p:sp>
      <p:sp>
        <p:nvSpPr>
          <p:cNvPr id="21" name="Shape 18"/>
          <p:cNvSpPr/>
          <p:nvPr/>
        </p:nvSpPr>
        <p:spPr>
          <a:xfrm>
            <a:off x="8613648" y="4407408"/>
            <a:ext cx="2907792" cy="969264"/>
          </a:xfrm>
          <a:prstGeom prst="roundRect">
            <a:avLst>
              <a:gd name="adj" fmla="val 7547"/>
            </a:avLst>
          </a:prstGeom>
          <a:solidFill>
            <a:srgbClr val="EEF0FA"/>
          </a:solidFill>
          <a:ln w="12700">
            <a:solidFill>
              <a:srgbClr val="E4E6F0"/>
            </a:solidFill>
            <a:prstDash val="solid"/>
          </a:ln>
        </p:spPr>
      </p:sp>
      <p:sp>
        <p:nvSpPr>
          <p:cNvPr id="22" name="Text 19"/>
          <p:cNvSpPr/>
          <p:nvPr/>
        </p:nvSpPr>
        <p:spPr>
          <a:xfrm>
            <a:off x="8778240" y="4498848"/>
            <a:ext cx="2578608" cy="786384"/>
          </a:xfrm>
          <a:prstGeom prst="rect">
            <a:avLst/>
          </a:prstGeom>
          <a:noFill/>
          <a:ln/>
        </p:spPr>
        <p:txBody>
          <a:bodyPr wrap="square" rtlCol="0" anchor="t"/>
          <a:lstStyle/>
          <a:p>
            <a:pPr indent="0" marL="0">
              <a:lnSpc>
                <a:spcPct val="100000"/>
              </a:lnSpc>
              <a:buNone/>
            </a:pPr>
            <a:r>
              <a:rPr lang="en-US" sz="1050" b="1" dirty="0">
                <a:solidFill>
                  <a:srgbClr val="1A1B34"/>
                </a:solidFill>
                <a:latin typeface="Calibri" pitchFamily="34" charset="0"/>
                <a:ea typeface="Calibri" pitchFamily="34" charset="-122"/>
                <a:cs typeface="Calibri" pitchFamily="34" charset="-120"/>
              </a:rPr>
              <a:t>“How do we control LLM cost?”</a:t>
            </a:r>
            <a:endParaRPr lang="en-US" sz="1050" dirty="0"/>
          </a:p>
          <a:p>
            <a:pPr indent="0" marL="0">
              <a:lnSpc>
                <a:spcPct val="100000"/>
              </a:lnSpc>
              <a:buNone/>
            </a:pPr>
            <a:r>
              <a:rPr lang="en-US" sz="950" dirty="0">
                <a:solidFill>
                  <a:srgbClr val="44465F"/>
                </a:solidFill>
                <a:latin typeface="Calibri" pitchFamily="34" charset="0"/>
                <a:ea typeface="Calibri" pitchFamily="34" charset="-122"/>
                <a:cs typeface="Calibri" pitchFamily="34" charset="-120"/>
              </a:rPr>
              <a:t>Route models by tier, track tokens/latency, kill a costly config live.</a:t>
            </a:r>
            <a:endParaRPr lang="en-US" sz="1050" dirty="0"/>
          </a:p>
        </p:txBody>
      </p:sp>
      <p:sp>
        <p:nvSpPr>
          <p:cNvPr id="23" name="Shape 20"/>
          <p:cNvSpPr/>
          <p:nvPr/>
        </p:nvSpPr>
        <p:spPr>
          <a:xfrm>
            <a:off x="5532120" y="5468112"/>
            <a:ext cx="2907792" cy="969264"/>
          </a:xfrm>
          <a:prstGeom prst="roundRect">
            <a:avLst>
              <a:gd name="adj" fmla="val 7547"/>
            </a:avLst>
          </a:prstGeom>
          <a:solidFill>
            <a:srgbClr val="EEF0FA"/>
          </a:solidFill>
          <a:ln w="12700">
            <a:solidFill>
              <a:srgbClr val="E4E6F0"/>
            </a:solidFill>
            <a:prstDash val="solid"/>
          </a:ln>
        </p:spPr>
      </p:sp>
      <p:sp>
        <p:nvSpPr>
          <p:cNvPr id="24" name="Text 21"/>
          <p:cNvSpPr/>
          <p:nvPr/>
        </p:nvSpPr>
        <p:spPr>
          <a:xfrm>
            <a:off x="5696712" y="5559552"/>
            <a:ext cx="2578608" cy="786384"/>
          </a:xfrm>
          <a:prstGeom prst="rect">
            <a:avLst/>
          </a:prstGeom>
          <a:noFill/>
          <a:ln/>
        </p:spPr>
        <p:txBody>
          <a:bodyPr wrap="square" rtlCol="0" anchor="t"/>
          <a:lstStyle/>
          <a:p>
            <a:pPr indent="0" marL="0">
              <a:lnSpc>
                <a:spcPct val="100000"/>
              </a:lnSpc>
              <a:buNone/>
            </a:pPr>
            <a:r>
              <a:rPr lang="en-US" sz="1050" b="1" dirty="0">
                <a:solidFill>
                  <a:srgbClr val="1A1B34"/>
                </a:solidFill>
                <a:latin typeface="Calibri" pitchFamily="34" charset="0"/>
                <a:ea typeface="Calibri" pitchFamily="34" charset="-122"/>
                <a:cs typeface="Calibri" pitchFamily="34" charset="-120"/>
              </a:rPr>
              <a:t>“How is this different from LangSmith?”</a:t>
            </a:r>
            <a:endParaRPr lang="en-US" sz="1050" dirty="0"/>
          </a:p>
          <a:p>
            <a:pPr indent="0" marL="0">
              <a:lnSpc>
                <a:spcPct val="100000"/>
              </a:lnSpc>
              <a:buNone/>
            </a:pPr>
            <a:r>
              <a:rPr lang="en-US" sz="950" dirty="0">
                <a:solidFill>
                  <a:srgbClr val="44465F"/>
                </a:solidFill>
                <a:latin typeface="Calibri" pitchFamily="34" charset="0"/>
                <a:ea typeface="Calibri" pitchFamily="34" charset="-122"/>
                <a:cs typeface="Calibri" pitchFamily="34" charset="-120"/>
              </a:rPr>
              <a:t>Same platform as your flags, targeting &amp; experiments — model+prompt together.</a:t>
            </a:r>
            <a:endParaRPr lang="en-US" sz="1050" dirty="0"/>
          </a:p>
        </p:txBody>
      </p:sp>
      <p:sp>
        <p:nvSpPr>
          <p:cNvPr id="25" name="Shape 22"/>
          <p:cNvSpPr/>
          <p:nvPr/>
        </p:nvSpPr>
        <p:spPr>
          <a:xfrm>
            <a:off x="8613648" y="5468112"/>
            <a:ext cx="2907792" cy="969264"/>
          </a:xfrm>
          <a:prstGeom prst="roundRect">
            <a:avLst>
              <a:gd name="adj" fmla="val 7547"/>
            </a:avLst>
          </a:prstGeom>
          <a:solidFill>
            <a:srgbClr val="EEF0FA"/>
          </a:solidFill>
          <a:ln w="12700">
            <a:solidFill>
              <a:srgbClr val="E4E6F0"/>
            </a:solidFill>
            <a:prstDash val="solid"/>
          </a:ln>
        </p:spPr>
      </p:sp>
      <p:sp>
        <p:nvSpPr>
          <p:cNvPr id="26" name="Text 23"/>
          <p:cNvSpPr/>
          <p:nvPr/>
        </p:nvSpPr>
        <p:spPr>
          <a:xfrm>
            <a:off x="8778240" y="5559552"/>
            <a:ext cx="2578608" cy="786384"/>
          </a:xfrm>
          <a:prstGeom prst="rect">
            <a:avLst/>
          </a:prstGeom>
          <a:noFill/>
          <a:ln/>
        </p:spPr>
        <p:txBody>
          <a:bodyPr wrap="square" rtlCol="0" anchor="t"/>
          <a:lstStyle/>
          <a:p>
            <a:pPr indent="0" marL="0">
              <a:lnSpc>
                <a:spcPct val="100000"/>
              </a:lnSpc>
              <a:buNone/>
            </a:pPr>
            <a:r>
              <a:rPr lang="en-US" sz="1050" b="1" dirty="0">
                <a:solidFill>
                  <a:srgbClr val="1A1B34"/>
                </a:solidFill>
                <a:latin typeface="Calibri" pitchFamily="34" charset="0"/>
                <a:ea typeface="Calibri" pitchFamily="34" charset="-122"/>
                <a:cs typeface="Calibri" pitchFamily="34" charset="-120"/>
              </a:rPr>
              <a:t>“Who can change what the AI says?”</a:t>
            </a:r>
            <a:endParaRPr lang="en-US" sz="1050" dirty="0"/>
          </a:p>
          <a:p>
            <a:pPr indent="0" marL="0">
              <a:lnSpc>
                <a:spcPct val="100000"/>
              </a:lnSpc>
              <a:buNone/>
            </a:pPr>
            <a:r>
              <a:rPr lang="en-US" sz="950" dirty="0">
                <a:solidFill>
                  <a:srgbClr val="44465F"/>
                </a:solidFill>
                <a:latin typeface="Calibri" pitchFamily="34" charset="0"/>
                <a:ea typeface="Calibri" pitchFamily="34" charset="-122"/>
                <a:cs typeface="Calibri" pitchFamily="34" charset="-120"/>
              </a:rPr>
              <a:t>RBAC + approvals + audit log — governance, not an afterthought.</a:t>
            </a:r>
            <a:endParaRPr lang="en-US" sz="1050" dirty="0"/>
          </a:p>
        </p:txBody>
      </p:sp>
      <p:sp>
        <p:nvSpPr>
          <p:cNvPr id="27" name="Text 24"/>
          <p:cNvSpPr/>
          <p:nvPr/>
        </p:nvSpPr>
        <p:spPr>
          <a:xfrm>
            <a:off x="640080" y="6473952"/>
            <a:ext cx="7315200" cy="274320"/>
          </a:xfrm>
          <a:prstGeom prst="rect">
            <a:avLst/>
          </a:prstGeom>
          <a:noFill/>
          <a:ln/>
        </p:spPr>
        <p:txBody>
          <a:bodyPr wrap="square" lIns="0" tIns="0" rIns="0" bIns="0" rtlCol="0" anchor="ctr"/>
          <a:lstStyle/>
          <a:p>
            <a:pPr indent="0" marL="0">
              <a:buNone/>
            </a:pPr>
            <a:r>
              <a:rPr lang="en-US" sz="850" dirty="0">
                <a:solidFill>
                  <a:srgbClr val="AEB2C7"/>
                </a:solidFill>
                <a:latin typeface="Calibri" pitchFamily="34" charset="0"/>
                <a:ea typeface="Calibri" pitchFamily="34" charset="-122"/>
                <a:cs typeface="Calibri" pitchFamily="34" charset="-120"/>
              </a:rPr>
              <a:t>LaunchDarkly · Solution Overview for ABC Company</a:t>
            </a:r>
            <a:endParaRPr lang="en-US" sz="850" dirty="0"/>
          </a:p>
        </p:txBody>
      </p:sp>
      <p:sp>
        <p:nvSpPr>
          <p:cNvPr id="28" name="Text 25"/>
          <p:cNvSpPr/>
          <p:nvPr/>
        </p:nvSpPr>
        <p:spPr>
          <a:xfrm>
            <a:off x="11274552" y="6473952"/>
            <a:ext cx="365760" cy="274320"/>
          </a:xfrm>
          <a:prstGeom prst="rect">
            <a:avLst/>
          </a:prstGeom>
          <a:noFill/>
          <a:ln/>
        </p:spPr>
        <p:txBody>
          <a:bodyPr wrap="square" lIns="0" tIns="0" rIns="0" bIns="0" rtlCol="0" anchor="ctr"/>
          <a:lstStyle/>
          <a:p>
            <a:pPr algn="r" indent="0" marL="0">
              <a:buNone/>
            </a:pPr>
            <a:r>
              <a:rPr lang="en-US" sz="850" dirty="0">
                <a:solidFill>
                  <a:srgbClr val="AEB2C7"/>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030"/>
        </a:solidFill>
      </p:bgPr>
    </p:bg>
    <p:spTree>
      <p:nvGrpSpPr>
        <p:cNvPr id="1" name=""/>
        <p:cNvGrpSpPr/>
        <p:nvPr/>
      </p:nvGrpSpPr>
      <p:grpSpPr>
        <a:xfrm>
          <a:off x="0" y="0"/>
          <a:ext cx="0" cy="0"/>
          <a:chOff x="0" y="0"/>
          <a:chExt cx="0" cy="0"/>
        </a:xfrm>
      </p:grpSpPr>
      <p:sp>
        <p:nvSpPr>
          <p:cNvPr id="2" name="Shape 0"/>
          <p:cNvSpPr/>
          <p:nvPr/>
        </p:nvSpPr>
        <p:spPr>
          <a:xfrm>
            <a:off x="9692640" y="4206240"/>
            <a:ext cx="4023360" cy="4023360"/>
          </a:xfrm>
          <a:prstGeom prst="ellipse">
            <a:avLst/>
          </a:prstGeom>
          <a:solidFill>
            <a:srgbClr val="6366F1">
              <a:alpha val="16000"/>
            </a:srgbClr>
          </a:solidFill>
          <a:ln/>
        </p:spPr>
      </p:sp>
      <p:sp>
        <p:nvSpPr>
          <p:cNvPr id="3" name="Shape 1"/>
          <p:cNvSpPr/>
          <p:nvPr/>
        </p:nvSpPr>
        <p:spPr>
          <a:xfrm>
            <a:off x="-1280160" y="-1463040"/>
            <a:ext cx="3474720" cy="3474720"/>
          </a:xfrm>
          <a:prstGeom prst="ellipse">
            <a:avLst/>
          </a:prstGeom>
          <a:solidFill>
            <a:srgbClr val="3DD6F5">
              <a:alpha val="15000"/>
            </a:srgbClr>
          </a:solidFill>
          <a:ln/>
        </p:spPr>
      </p:sp>
      <p:sp>
        <p:nvSpPr>
          <p:cNvPr id="4" name="Text 2"/>
          <p:cNvSpPr/>
          <p:nvPr/>
        </p:nvSpPr>
        <p:spPr>
          <a:xfrm>
            <a:off x="685800" y="777240"/>
            <a:ext cx="7315200" cy="274320"/>
          </a:xfrm>
          <a:prstGeom prst="rect">
            <a:avLst/>
          </a:prstGeom>
          <a:noFill/>
          <a:ln/>
        </p:spPr>
        <p:txBody>
          <a:bodyPr wrap="square" lIns="0" tIns="0" rIns="0" bIns="0" rtlCol="0" anchor="ctr"/>
          <a:lstStyle/>
          <a:p>
            <a:pPr indent="0" marL="0">
              <a:buNone/>
            </a:pPr>
            <a:r>
              <a:rPr lang="en-US" sz="1200" b="1" spc="300" kern="0" dirty="0">
                <a:solidFill>
                  <a:srgbClr val="3DD6F5"/>
                </a:solidFill>
                <a:latin typeface="Calibri" pitchFamily="34" charset="0"/>
                <a:ea typeface="Calibri" pitchFamily="34" charset="-122"/>
                <a:cs typeface="Calibri" pitchFamily="34" charset="-120"/>
              </a:rPr>
              <a:t>THE TAKEAWAY</a:t>
            </a:r>
            <a:endParaRPr lang="en-US" sz="1200" dirty="0"/>
          </a:p>
        </p:txBody>
      </p:sp>
      <p:sp>
        <p:nvSpPr>
          <p:cNvPr id="5" name="Text 3"/>
          <p:cNvSpPr/>
          <p:nvPr/>
        </p:nvSpPr>
        <p:spPr>
          <a:xfrm>
            <a:off x="640080" y="1097280"/>
            <a:ext cx="10972800" cy="914400"/>
          </a:xfrm>
          <a:prstGeom prst="rect">
            <a:avLst/>
          </a:prstGeom>
          <a:noFill/>
          <a:ln/>
        </p:spPr>
        <p:txBody>
          <a:bodyPr wrap="square" lIns="0" tIns="0" rIns="0" bIns="0" rtlCol="0" anchor="ctr"/>
          <a:lstStyle/>
          <a:p>
            <a:pPr indent="0" marL="0">
              <a:buNone/>
            </a:pPr>
            <a:r>
              <a:rPr lang="en-US" sz="3400" b="1" dirty="0">
                <a:solidFill>
                  <a:srgbClr val="FFFFFF"/>
                </a:solidFill>
                <a:latin typeface="Bookman Old Style" pitchFamily="34" charset="0"/>
                <a:ea typeface="Bookman Old Style" pitchFamily="34" charset="-122"/>
                <a:cs typeface="Bookman Old Style" pitchFamily="34" charset="-120"/>
              </a:rPr>
              <a:t>One platform. An instant undo at every step.</a:t>
            </a:r>
            <a:endParaRPr lang="en-US" sz="3400" dirty="0"/>
          </a:p>
        </p:txBody>
      </p:sp>
      <p:sp>
        <p:nvSpPr>
          <p:cNvPr id="6" name="Shape 4"/>
          <p:cNvSpPr/>
          <p:nvPr/>
        </p:nvSpPr>
        <p:spPr>
          <a:xfrm>
            <a:off x="685800" y="2468880"/>
            <a:ext cx="2560320" cy="2148840"/>
          </a:xfrm>
          <a:prstGeom prst="roundRect">
            <a:avLst>
              <a:gd name="adj" fmla="val 4255"/>
            </a:avLst>
          </a:prstGeom>
          <a:solidFill>
            <a:srgbClr val="1B1E4B"/>
          </a:solidFill>
          <a:ln w="12700">
            <a:solidFill>
              <a:srgbClr val="343873"/>
            </a:solidFill>
            <a:prstDash val="solid"/>
          </a:ln>
        </p:spPr>
      </p:sp>
      <p:sp>
        <p:nvSpPr>
          <p:cNvPr id="7" name="Shape 5"/>
          <p:cNvSpPr/>
          <p:nvPr/>
        </p:nvSpPr>
        <p:spPr>
          <a:xfrm>
            <a:off x="941832" y="2724912"/>
            <a:ext cx="640080" cy="640080"/>
          </a:xfrm>
          <a:prstGeom prst="ellipse">
            <a:avLst/>
          </a:prstGeom>
          <a:solidFill>
            <a:srgbClr val="23264F"/>
          </a:solidFill>
          <a:ln/>
          <a:effectLst>
            <a:outerShdw sx="100000" sy="100000" kx="0" ky="0" algn="bl" rotWithShape="0" blurRad="114300" dist="38100" dir="5400000">
              <a:srgbClr val="1A1B34">
                <a:alpha val="12000"/>
              </a:srgbClr>
            </a:outerShdw>
          </a:effectLst>
        </p:spPr>
      </p:sp>
      <p:pic>
        <p:nvPicPr>
          <p:cNvPr id="8" name="Image 0" descr="preencoded.png">    </p:cNvPr>
          <p:cNvPicPr>
            <a:picLocks noChangeAspect="1"/>
          </p:cNvPicPr>
          <p:nvPr/>
        </p:nvPicPr>
        <p:blipFill>
          <a:blip r:embed="rId1"/>
          <a:stretch>
            <a:fillRect/>
          </a:stretch>
        </p:blipFill>
        <p:spPr>
          <a:xfrm>
            <a:off x="1108253" y="2891333"/>
            <a:ext cx="307238" cy="307238"/>
          </a:xfrm>
          <a:prstGeom prst="rect">
            <a:avLst/>
          </a:prstGeom>
        </p:spPr>
      </p:pic>
      <p:sp>
        <p:nvSpPr>
          <p:cNvPr id="9" name="Text 6"/>
          <p:cNvSpPr/>
          <p:nvPr/>
        </p:nvSpPr>
        <p:spPr>
          <a:xfrm>
            <a:off x="905256" y="3493008"/>
            <a:ext cx="2194560" cy="457200"/>
          </a:xfrm>
          <a:prstGeom prst="rect">
            <a:avLst/>
          </a:prstGeom>
          <a:noFill/>
          <a:ln/>
        </p:spPr>
        <p:txBody>
          <a:bodyPr wrap="square" lIns="0" tIns="0" rIns="0" bIns="0" rtlCol="0" anchor="ctr"/>
          <a:lstStyle/>
          <a:p>
            <a:pPr indent="0" marL="0">
              <a:buNone/>
            </a:pPr>
            <a:r>
              <a:rPr lang="en-US" sz="1500" b="1" dirty="0">
                <a:solidFill>
                  <a:srgbClr val="FFFFFF"/>
                </a:solidFill>
                <a:latin typeface="Bookman Old Style" pitchFamily="34" charset="0"/>
                <a:ea typeface="Bookman Old Style" pitchFamily="34" charset="-122"/>
                <a:cs typeface="Bookman Old Style" pitchFamily="34" charset="-120"/>
              </a:rPr>
              <a:t>Release &amp; Remediate</a:t>
            </a:r>
            <a:endParaRPr lang="en-US" sz="1500" dirty="0"/>
          </a:p>
        </p:txBody>
      </p:sp>
      <p:sp>
        <p:nvSpPr>
          <p:cNvPr id="10" name="Text 7"/>
          <p:cNvSpPr/>
          <p:nvPr/>
        </p:nvSpPr>
        <p:spPr>
          <a:xfrm>
            <a:off x="905256" y="3913632"/>
            <a:ext cx="2212848" cy="640080"/>
          </a:xfrm>
          <a:prstGeom prst="rect">
            <a:avLst/>
          </a:prstGeom>
          <a:noFill/>
          <a:ln/>
        </p:spPr>
        <p:txBody>
          <a:bodyPr wrap="square" lIns="0" tIns="0" rIns="0" bIns="0" rtlCol="0" anchor="ctr"/>
          <a:lstStyle/>
          <a:p>
            <a:pPr indent="0" marL="0">
              <a:buNone/>
            </a:pPr>
            <a:r>
              <a:rPr lang="en-US" sz="1150" dirty="0">
                <a:solidFill>
                  <a:srgbClr val="C9CCE6"/>
                </a:solidFill>
                <a:latin typeface="Calibri" pitchFamily="34" charset="0"/>
                <a:ea typeface="Calibri" pitchFamily="34" charset="-122"/>
                <a:cs typeface="Calibri" pitchFamily="34" charset="-120"/>
              </a:rPr>
              <a:t>Deploy dark, flip on, kill instantly</a:t>
            </a:r>
            <a:endParaRPr lang="en-US" sz="1150" dirty="0"/>
          </a:p>
        </p:txBody>
      </p:sp>
      <p:sp>
        <p:nvSpPr>
          <p:cNvPr id="11" name="Shape 8"/>
          <p:cNvSpPr/>
          <p:nvPr/>
        </p:nvSpPr>
        <p:spPr>
          <a:xfrm>
            <a:off x="3474720" y="2468880"/>
            <a:ext cx="2560320" cy="2148840"/>
          </a:xfrm>
          <a:prstGeom prst="roundRect">
            <a:avLst>
              <a:gd name="adj" fmla="val 4255"/>
            </a:avLst>
          </a:prstGeom>
          <a:solidFill>
            <a:srgbClr val="1B1E4B"/>
          </a:solidFill>
          <a:ln w="12700">
            <a:solidFill>
              <a:srgbClr val="343873"/>
            </a:solidFill>
            <a:prstDash val="solid"/>
          </a:ln>
        </p:spPr>
      </p:sp>
      <p:sp>
        <p:nvSpPr>
          <p:cNvPr id="12" name="Shape 9"/>
          <p:cNvSpPr/>
          <p:nvPr/>
        </p:nvSpPr>
        <p:spPr>
          <a:xfrm>
            <a:off x="3730752" y="2724912"/>
            <a:ext cx="640080" cy="640080"/>
          </a:xfrm>
          <a:prstGeom prst="ellipse">
            <a:avLst/>
          </a:prstGeom>
          <a:solidFill>
            <a:srgbClr val="23264F"/>
          </a:solidFill>
          <a:ln/>
          <a:effectLst>
            <a:outerShdw sx="100000" sy="100000" kx="0" ky="0" algn="bl" rotWithShape="0" blurRad="114300" dist="38100" dir="5400000">
              <a:srgbClr val="1A1B34">
                <a:alpha val="12000"/>
              </a:srgbClr>
            </a:outerShdw>
          </a:effectLst>
        </p:spPr>
      </p:sp>
      <p:pic>
        <p:nvPicPr>
          <p:cNvPr id="13" name="Image 1" descr="preencoded.png">    </p:cNvPr>
          <p:cNvPicPr>
            <a:picLocks noChangeAspect="1"/>
          </p:cNvPicPr>
          <p:nvPr/>
        </p:nvPicPr>
        <p:blipFill>
          <a:blip r:embed="rId2"/>
          <a:stretch>
            <a:fillRect/>
          </a:stretch>
        </p:blipFill>
        <p:spPr>
          <a:xfrm>
            <a:off x="3897173" y="2891333"/>
            <a:ext cx="307238" cy="307238"/>
          </a:xfrm>
          <a:prstGeom prst="rect">
            <a:avLst/>
          </a:prstGeom>
        </p:spPr>
      </p:pic>
      <p:sp>
        <p:nvSpPr>
          <p:cNvPr id="14" name="Text 10"/>
          <p:cNvSpPr/>
          <p:nvPr/>
        </p:nvSpPr>
        <p:spPr>
          <a:xfrm>
            <a:off x="3694176" y="3493008"/>
            <a:ext cx="2194560" cy="457200"/>
          </a:xfrm>
          <a:prstGeom prst="rect">
            <a:avLst/>
          </a:prstGeom>
          <a:noFill/>
          <a:ln/>
        </p:spPr>
        <p:txBody>
          <a:bodyPr wrap="square" lIns="0" tIns="0" rIns="0" bIns="0" rtlCol="0" anchor="ctr"/>
          <a:lstStyle/>
          <a:p>
            <a:pPr indent="0" marL="0">
              <a:buNone/>
            </a:pPr>
            <a:r>
              <a:rPr lang="en-US" sz="1500" b="1" dirty="0">
                <a:solidFill>
                  <a:srgbClr val="FFFFFF"/>
                </a:solidFill>
                <a:latin typeface="Bookman Old Style" pitchFamily="34" charset="0"/>
                <a:ea typeface="Bookman Old Style" pitchFamily="34" charset="-122"/>
                <a:cs typeface="Bookman Old Style" pitchFamily="34" charset="-120"/>
              </a:rPr>
              <a:t>Target</a:t>
            </a:r>
            <a:endParaRPr lang="en-US" sz="1500" dirty="0"/>
          </a:p>
        </p:txBody>
      </p:sp>
      <p:sp>
        <p:nvSpPr>
          <p:cNvPr id="15" name="Text 11"/>
          <p:cNvSpPr/>
          <p:nvPr/>
        </p:nvSpPr>
        <p:spPr>
          <a:xfrm>
            <a:off x="3694176" y="3913632"/>
            <a:ext cx="2212848" cy="640080"/>
          </a:xfrm>
          <a:prstGeom prst="rect">
            <a:avLst/>
          </a:prstGeom>
          <a:noFill/>
          <a:ln/>
        </p:spPr>
        <p:txBody>
          <a:bodyPr wrap="square" lIns="0" tIns="0" rIns="0" bIns="0" rtlCol="0" anchor="ctr"/>
          <a:lstStyle/>
          <a:p>
            <a:pPr indent="0" marL="0">
              <a:buNone/>
            </a:pPr>
            <a:r>
              <a:rPr lang="en-US" sz="1150" dirty="0">
                <a:solidFill>
                  <a:srgbClr val="C9CCE6"/>
                </a:solidFill>
                <a:latin typeface="Calibri" pitchFamily="34" charset="0"/>
                <a:ea typeface="Calibri" pitchFamily="34" charset="-122"/>
                <a:cs typeface="Calibri" pitchFamily="34" charset="-120"/>
              </a:rPr>
              <a:t>The right audience, no code change</a:t>
            </a:r>
            <a:endParaRPr lang="en-US" sz="1150" dirty="0"/>
          </a:p>
        </p:txBody>
      </p:sp>
      <p:sp>
        <p:nvSpPr>
          <p:cNvPr id="16" name="Shape 12"/>
          <p:cNvSpPr/>
          <p:nvPr/>
        </p:nvSpPr>
        <p:spPr>
          <a:xfrm>
            <a:off x="6263640" y="2468880"/>
            <a:ext cx="2560320" cy="2148840"/>
          </a:xfrm>
          <a:prstGeom prst="roundRect">
            <a:avLst>
              <a:gd name="adj" fmla="val 4255"/>
            </a:avLst>
          </a:prstGeom>
          <a:solidFill>
            <a:srgbClr val="1B1E4B"/>
          </a:solidFill>
          <a:ln w="12700">
            <a:solidFill>
              <a:srgbClr val="343873"/>
            </a:solidFill>
            <a:prstDash val="solid"/>
          </a:ln>
        </p:spPr>
      </p:sp>
      <p:sp>
        <p:nvSpPr>
          <p:cNvPr id="17" name="Shape 13"/>
          <p:cNvSpPr/>
          <p:nvPr/>
        </p:nvSpPr>
        <p:spPr>
          <a:xfrm>
            <a:off x="6519672" y="2724912"/>
            <a:ext cx="640080" cy="640080"/>
          </a:xfrm>
          <a:prstGeom prst="ellipse">
            <a:avLst/>
          </a:prstGeom>
          <a:solidFill>
            <a:srgbClr val="23264F"/>
          </a:solidFill>
          <a:ln/>
          <a:effectLst>
            <a:outerShdw sx="100000" sy="100000" kx="0" ky="0" algn="bl" rotWithShape="0" blurRad="114300" dist="38100" dir="5400000">
              <a:srgbClr val="1A1B34">
                <a:alpha val="12000"/>
              </a:srgbClr>
            </a:outerShdw>
          </a:effectLst>
        </p:spPr>
      </p:sp>
      <p:pic>
        <p:nvPicPr>
          <p:cNvPr id="18" name="Image 2" descr="preencoded.png">    </p:cNvPr>
          <p:cNvPicPr>
            <a:picLocks noChangeAspect="1"/>
          </p:cNvPicPr>
          <p:nvPr/>
        </p:nvPicPr>
        <p:blipFill>
          <a:blip r:embed="rId3"/>
          <a:stretch>
            <a:fillRect/>
          </a:stretch>
        </p:blipFill>
        <p:spPr>
          <a:xfrm>
            <a:off x="6686093" y="2891333"/>
            <a:ext cx="307238" cy="307238"/>
          </a:xfrm>
          <a:prstGeom prst="rect">
            <a:avLst/>
          </a:prstGeom>
        </p:spPr>
      </p:pic>
      <p:sp>
        <p:nvSpPr>
          <p:cNvPr id="19" name="Text 14"/>
          <p:cNvSpPr/>
          <p:nvPr/>
        </p:nvSpPr>
        <p:spPr>
          <a:xfrm>
            <a:off x="6483096" y="3493008"/>
            <a:ext cx="2194560" cy="457200"/>
          </a:xfrm>
          <a:prstGeom prst="rect">
            <a:avLst/>
          </a:prstGeom>
          <a:noFill/>
          <a:ln/>
        </p:spPr>
        <p:txBody>
          <a:bodyPr wrap="square" lIns="0" tIns="0" rIns="0" bIns="0" rtlCol="0" anchor="ctr"/>
          <a:lstStyle/>
          <a:p>
            <a:pPr indent="0" marL="0">
              <a:buNone/>
            </a:pPr>
            <a:r>
              <a:rPr lang="en-US" sz="1500" b="1" dirty="0">
                <a:solidFill>
                  <a:srgbClr val="FFFFFF"/>
                </a:solidFill>
                <a:latin typeface="Bookman Old Style" pitchFamily="34" charset="0"/>
                <a:ea typeface="Bookman Old Style" pitchFamily="34" charset="-122"/>
                <a:cs typeface="Bookman Old Style" pitchFamily="34" charset="-120"/>
              </a:rPr>
              <a:t>Experiment</a:t>
            </a:r>
            <a:endParaRPr lang="en-US" sz="1500" dirty="0"/>
          </a:p>
        </p:txBody>
      </p:sp>
      <p:sp>
        <p:nvSpPr>
          <p:cNvPr id="20" name="Text 15"/>
          <p:cNvSpPr/>
          <p:nvPr/>
        </p:nvSpPr>
        <p:spPr>
          <a:xfrm>
            <a:off x="6483096" y="3913632"/>
            <a:ext cx="2212848" cy="640080"/>
          </a:xfrm>
          <a:prstGeom prst="rect">
            <a:avLst/>
          </a:prstGeom>
          <a:noFill/>
          <a:ln/>
        </p:spPr>
        <p:txBody>
          <a:bodyPr wrap="square" lIns="0" tIns="0" rIns="0" bIns="0" rtlCol="0" anchor="ctr"/>
          <a:lstStyle/>
          <a:p>
            <a:pPr indent="0" marL="0">
              <a:buNone/>
            </a:pPr>
            <a:r>
              <a:rPr lang="en-US" sz="1150" dirty="0">
                <a:solidFill>
                  <a:srgbClr val="C9CCE6"/>
                </a:solidFill>
                <a:latin typeface="Calibri" pitchFamily="34" charset="0"/>
                <a:ea typeface="Calibri" pitchFamily="34" charset="-122"/>
                <a:cs typeface="Calibri" pitchFamily="34" charset="-120"/>
              </a:rPr>
              <a:t>Prove impact on the same flag</a:t>
            </a:r>
            <a:endParaRPr lang="en-US" sz="1150" dirty="0"/>
          </a:p>
        </p:txBody>
      </p:sp>
      <p:sp>
        <p:nvSpPr>
          <p:cNvPr id="21" name="Shape 16"/>
          <p:cNvSpPr/>
          <p:nvPr/>
        </p:nvSpPr>
        <p:spPr>
          <a:xfrm>
            <a:off x="9052560" y="2468880"/>
            <a:ext cx="2560320" cy="2148840"/>
          </a:xfrm>
          <a:prstGeom prst="roundRect">
            <a:avLst>
              <a:gd name="adj" fmla="val 4255"/>
            </a:avLst>
          </a:prstGeom>
          <a:solidFill>
            <a:srgbClr val="1B1E4B"/>
          </a:solidFill>
          <a:ln w="12700">
            <a:solidFill>
              <a:srgbClr val="343873"/>
            </a:solidFill>
            <a:prstDash val="solid"/>
          </a:ln>
        </p:spPr>
      </p:sp>
      <p:sp>
        <p:nvSpPr>
          <p:cNvPr id="22" name="Shape 17"/>
          <p:cNvSpPr/>
          <p:nvPr/>
        </p:nvSpPr>
        <p:spPr>
          <a:xfrm>
            <a:off x="9308592" y="2724912"/>
            <a:ext cx="640080" cy="640080"/>
          </a:xfrm>
          <a:prstGeom prst="ellipse">
            <a:avLst/>
          </a:prstGeom>
          <a:solidFill>
            <a:srgbClr val="23264F"/>
          </a:solidFill>
          <a:ln/>
          <a:effectLst>
            <a:outerShdw sx="100000" sy="100000" kx="0" ky="0" algn="bl" rotWithShape="0" blurRad="114300" dist="38100" dir="5400000">
              <a:srgbClr val="1A1B34">
                <a:alpha val="12000"/>
              </a:srgbClr>
            </a:outerShdw>
          </a:effectLst>
        </p:spPr>
      </p:sp>
      <p:pic>
        <p:nvPicPr>
          <p:cNvPr id="23" name="Image 3" descr="preencoded.png">    </p:cNvPr>
          <p:cNvPicPr>
            <a:picLocks noChangeAspect="1"/>
          </p:cNvPicPr>
          <p:nvPr/>
        </p:nvPicPr>
        <p:blipFill>
          <a:blip r:embed="rId4"/>
          <a:stretch>
            <a:fillRect/>
          </a:stretch>
        </p:blipFill>
        <p:spPr>
          <a:xfrm>
            <a:off x="9475013" y="2891333"/>
            <a:ext cx="307238" cy="307238"/>
          </a:xfrm>
          <a:prstGeom prst="rect">
            <a:avLst/>
          </a:prstGeom>
        </p:spPr>
      </p:pic>
      <p:sp>
        <p:nvSpPr>
          <p:cNvPr id="24" name="Text 18"/>
          <p:cNvSpPr/>
          <p:nvPr/>
        </p:nvSpPr>
        <p:spPr>
          <a:xfrm>
            <a:off x="9272016" y="3493008"/>
            <a:ext cx="2194560" cy="457200"/>
          </a:xfrm>
          <a:prstGeom prst="rect">
            <a:avLst/>
          </a:prstGeom>
          <a:noFill/>
          <a:ln/>
        </p:spPr>
        <p:txBody>
          <a:bodyPr wrap="square" lIns="0" tIns="0" rIns="0" bIns="0" rtlCol="0" anchor="ctr"/>
          <a:lstStyle/>
          <a:p>
            <a:pPr indent="0" marL="0">
              <a:buNone/>
            </a:pPr>
            <a:r>
              <a:rPr lang="en-US" sz="1500" b="1" dirty="0">
                <a:solidFill>
                  <a:srgbClr val="FFFFFF"/>
                </a:solidFill>
                <a:latin typeface="Bookman Old Style" pitchFamily="34" charset="0"/>
                <a:ea typeface="Bookman Old Style" pitchFamily="34" charset="-122"/>
                <a:cs typeface="Bookman Old Style" pitchFamily="34" charset="-120"/>
              </a:rPr>
              <a:t>Control AI</a:t>
            </a:r>
            <a:endParaRPr lang="en-US" sz="1500" dirty="0"/>
          </a:p>
        </p:txBody>
      </p:sp>
      <p:sp>
        <p:nvSpPr>
          <p:cNvPr id="25" name="Text 19"/>
          <p:cNvSpPr/>
          <p:nvPr/>
        </p:nvSpPr>
        <p:spPr>
          <a:xfrm>
            <a:off x="9272016" y="3913632"/>
            <a:ext cx="2212848" cy="640080"/>
          </a:xfrm>
          <a:prstGeom prst="rect">
            <a:avLst/>
          </a:prstGeom>
          <a:noFill/>
          <a:ln/>
        </p:spPr>
        <p:txBody>
          <a:bodyPr wrap="square" lIns="0" tIns="0" rIns="0" bIns="0" rtlCol="0" anchor="ctr"/>
          <a:lstStyle/>
          <a:p>
            <a:pPr indent="0" marL="0">
              <a:buNone/>
            </a:pPr>
            <a:r>
              <a:rPr lang="en-US" sz="1150" dirty="0">
                <a:solidFill>
                  <a:srgbClr val="C9CCE6"/>
                </a:solidFill>
                <a:latin typeface="Calibri" pitchFamily="34" charset="0"/>
                <a:ea typeface="Calibri" pitchFamily="34" charset="-122"/>
                <a:cs typeface="Calibri" pitchFamily="34" charset="-120"/>
              </a:rPr>
              <a:t>Prompts &amp; models as runtime config</a:t>
            </a:r>
            <a:endParaRPr lang="en-US" sz="1150" dirty="0"/>
          </a:p>
        </p:txBody>
      </p:sp>
      <p:sp>
        <p:nvSpPr>
          <p:cNvPr id="26" name="Text 20"/>
          <p:cNvSpPr/>
          <p:nvPr/>
        </p:nvSpPr>
        <p:spPr>
          <a:xfrm>
            <a:off x="685800" y="5029200"/>
            <a:ext cx="10058400" cy="457200"/>
          </a:xfrm>
          <a:prstGeom prst="rect">
            <a:avLst/>
          </a:prstGeom>
          <a:noFill/>
          <a:ln/>
        </p:spPr>
        <p:txBody>
          <a:bodyPr wrap="square" lIns="0" tIns="0" rIns="0" bIns="0" rtlCol="0" anchor="ctr"/>
          <a:lstStyle/>
          <a:p>
            <a:pPr indent="0" marL="0">
              <a:buNone/>
            </a:pPr>
            <a:r>
              <a:rPr lang="en-US" sz="1600" i="1" dirty="0">
                <a:solidFill>
                  <a:srgbClr val="3DD6F5"/>
                </a:solidFill>
                <a:latin typeface="Calibri" pitchFamily="34" charset="0"/>
                <a:ea typeface="Calibri" pitchFamily="34" charset="-122"/>
                <a:cs typeface="Calibri" pitchFamily="34" charset="-120"/>
              </a:rPr>
              <a:t>You stop choosing between speed and safety.</a:t>
            </a:r>
            <a:endParaRPr lang="en-US" sz="1600" dirty="0"/>
          </a:p>
        </p:txBody>
      </p:sp>
      <p:sp>
        <p:nvSpPr>
          <p:cNvPr id="27" name="Text 21"/>
          <p:cNvSpPr/>
          <p:nvPr/>
        </p:nvSpPr>
        <p:spPr>
          <a:xfrm>
            <a:off x="685800" y="6035040"/>
            <a:ext cx="10515600" cy="365760"/>
          </a:xfrm>
          <a:prstGeom prst="rect">
            <a:avLst/>
          </a:prstGeom>
          <a:noFill/>
          <a:ln/>
        </p:spPr>
        <p:txBody>
          <a:bodyPr wrap="square" lIns="0" tIns="0" rIns="0" bIns="0" rtlCol="0" anchor="ctr"/>
          <a:lstStyle/>
          <a:p>
            <a:pPr indent="0" marL="0">
              <a:buNone/>
            </a:pPr>
            <a:r>
              <a:rPr lang="en-US" sz="1200" dirty="0">
                <a:solidFill>
                  <a:srgbClr val="8C90B4"/>
                </a:solidFill>
                <a:latin typeface="Calibri" pitchFamily="34" charset="0"/>
                <a:ea typeface="Calibri" pitchFamily="34" charset="-122"/>
                <a:cs typeface="Calibri" pitchFamily="34" charset="-120"/>
              </a:rPr>
              <a:t>Live demo running locally · github.com/wakejalker1/launchdarkly-se-exercise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LaunchDarkly for ABC Company</dc:title>
  <dc:subject>PptxGenJS Presentation</dc:subject>
  <dc:creator>Jake Walker</dc:creator>
  <cp:lastModifiedBy>Jake Walker</cp:lastModifiedBy>
  <cp:revision>1</cp:revision>
  <dcterms:created xsi:type="dcterms:W3CDTF">2026-07-09T15:58:17Z</dcterms:created>
  <dcterms:modified xsi:type="dcterms:W3CDTF">2026-07-09T15:58:17Z</dcterms:modified>
</cp:coreProperties>
</file>